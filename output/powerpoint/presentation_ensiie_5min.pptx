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b8ef4f5215143af" /><Relationship Type="http://schemas.openxmlformats.org/officeDocument/2006/relationships/extended-properties" Target="/docProps/app.xml" Id="Rc77e99a218a441b3" /><Relationship Type="http://schemas.openxmlformats.org/officeDocument/2006/relationships/officeDocument" Target="/ppt/presentation.xml" Id="R4f29fa47f6f24c08" /></Relationships>
</file>

<file path=ppt/presentation.xml><?xml version="1.0" encoding="utf-8"?>
<p:presentation xmlns:p="http://schemas.openxmlformats.org/presentationml/2006/main">
  <p:sldMasterIdLst>
    <p:sldMasterId xmlns:r="http://schemas.openxmlformats.org/officeDocument/2006/relationships" id="2147483648" r:id="R89d11e04228b4c07"/>
  </p:sldMasterIdLst>
  <p:notesMasterIdLst>
    <p:notesMasterId xmlns:r="http://schemas.openxmlformats.org/officeDocument/2006/relationships" r:id="Rcfe894674d67409c"/>
  </p:notesMasterIdLst>
  <p:sldIdLst>
    <p:sldId xmlns:r="http://schemas.openxmlformats.org/officeDocument/2006/relationships" id="256" r:id="Rf4e92b89e13c43e3"/>
    <p:sldId xmlns:r="http://schemas.openxmlformats.org/officeDocument/2006/relationships" id="257" r:id="Rcbc3f73ed4264af3"/>
    <p:sldId xmlns:r="http://schemas.openxmlformats.org/officeDocument/2006/relationships" id="258" r:id="R1a028771e7ed4d99"/>
    <p:sldId xmlns:r="http://schemas.openxmlformats.org/officeDocument/2006/relationships" id="259" r:id="R7cb7c478179e4596"/>
    <p:sldId xmlns:r="http://schemas.openxmlformats.org/officeDocument/2006/relationships" id="260" r:id="R58cc9ea775884ef7"/>
    <p:sldId xmlns:r="http://schemas.openxmlformats.org/officeDocument/2006/relationships" id="261" r:id="R65c742b280ef46b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5b4edf26fc3490f" /><Relationship Type="http://schemas.openxmlformats.org/officeDocument/2006/relationships/slideMaster" Target="/ppt/slideMasters/slideMaster1.xml" Id="R89d11e04228b4c07" /><Relationship Type="http://schemas.openxmlformats.org/officeDocument/2006/relationships/notesMaster" Target="/ppt/notesMasters/notesMaster1.xml" Id="Rcfe894674d67409c" /><Relationship Type="http://schemas.openxmlformats.org/officeDocument/2006/relationships/presProps" Target="/ppt/presProps.xml" Id="Refde17cad3e04ae5" /><Relationship Type="http://schemas.openxmlformats.org/officeDocument/2006/relationships/tableStyles" Target="/ppt/tableStyles.xml" Id="R08f2d3c27b874186" /><Relationship Type="http://schemas.openxmlformats.org/officeDocument/2006/relationships/slide" Target="/ppt/slides/slide1.xml" Id="Rf4e92b89e13c43e3" /><Relationship Type="http://schemas.openxmlformats.org/officeDocument/2006/relationships/slide" Target="/ppt/slides/slide2.xml" Id="Rcbc3f73ed4264af3" /><Relationship Type="http://schemas.openxmlformats.org/officeDocument/2006/relationships/slide" Target="/ppt/slides/slide3.xml" Id="R1a028771e7ed4d99" /><Relationship Type="http://schemas.openxmlformats.org/officeDocument/2006/relationships/slide" Target="/ppt/slides/slide4.xml" Id="R7cb7c478179e4596" /><Relationship Type="http://schemas.openxmlformats.org/officeDocument/2006/relationships/slide" Target="/ppt/slides/slide5.xml" Id="R58cc9ea775884ef7" /><Relationship Type="http://schemas.openxmlformats.org/officeDocument/2006/relationships/slide" Target="/ppt/slides/slide6.xml" Id="R65c742b280ef46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b19ae2664cc47f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ff3e5b99394814" /><Relationship Type="http://schemas.openxmlformats.org/officeDocument/2006/relationships/notesMaster" Target="/ppt/notesMasters/notesMaster1.xml" Id="Reabacb52aa3b4b44"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f0fe43dcd74d7d" /><Relationship Type="http://schemas.openxmlformats.org/officeDocument/2006/relationships/notesMaster" Target="/ppt/notesMasters/notesMaster1.xml" Id="Ra3dd0f93b5de419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a5894889df448bf" /><Relationship Type="http://schemas.openxmlformats.org/officeDocument/2006/relationships/notesMaster" Target="/ppt/notesMasters/notesMaster1.xml" Id="R699694a20f0a4cc8" /></Relationships>
</file>

<file path=ppt/notesSlides/_rels/notesSlide4.xml.rels>&#65279;<?xml version="1.0" encoding="utf-8"?><Relationships xmlns="http://schemas.openxmlformats.org/package/2006/relationships"><Relationship Type="http://schemas.openxmlformats.org/officeDocument/2006/relationships/slide" Target="/ppt/slides/slide4.xml" Id="Re54e3e8dfc924ab4" /><Relationship Type="http://schemas.openxmlformats.org/officeDocument/2006/relationships/notesMaster" Target="/ppt/notesMasters/notesMaster1.xml" Id="R2ab4e38cd509417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cdddbcb48149f6" /><Relationship Type="http://schemas.openxmlformats.org/officeDocument/2006/relationships/notesMaster" Target="/ppt/notesMasters/notesMaster1.xml" Id="R1f3c8bce7eb1406f" /></Relationships>
</file>

<file path=ppt/notesSlides/_rels/notesSlide6.xml.rels>&#65279;<?xml version="1.0" encoding="utf-8"?><Relationships xmlns="http://schemas.openxmlformats.org/package/2006/relationships"><Relationship Type="http://schemas.openxmlformats.org/officeDocument/2006/relationships/slide" Target="/ppt/slides/slide6.xml" Id="Rcf571f7b3329494c" /><Relationship Type="http://schemas.openxmlformats.org/officeDocument/2006/relationships/notesMaster" Target="/ppt/notesMasters/notesMaster1.xml" Id="R54a660fa8bae41d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 à 0:25</a:t>
            </a:r>
          </a:p>
          <a:p xmlns:a="http://schemas.openxmlformats.org/drawingml/2006/main">
            <a:r>
              <a:t/>
            </a:r>
          </a:p>
          <a:p xmlns:a="http://schemas.openxmlformats.org/drawingml/2006/main">
            <a:r>
              <a:t>Bonjour. Nous vous présentons le projet 3 du hackathon ensIIE : un tableau de bord stratégique pour suivre les indicateurs de l’école. L’idée est de rendre les données plus faciles à lire et à explorer. La démonstration utilise des données fictives couvrant 2020 à 2025.</a:t>
            </a:r>
          </a:p>
          <a:p xmlns:a="http://schemas.openxmlformats.org/drawingml/2006/main">
            <a:r>
              <a:t/>
            </a:r>
          </a:p>
          <a:p xmlns:a="http://schemas.openxmlformats.org/drawingml/2006/main">
            <a:r>
              <a:t>Sources : README.md, 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 à 1:15</a:t>
            </a:r>
          </a:p>
          <a:p xmlns:a="http://schemas.openxmlformats.org/drawingml/2006/main">
            <a:r>
              <a:t/>
            </a:r>
          </a:p>
          <a:p xmlns:a="http://schemas.openxmlformats.org/drawingml/2006/main">
            <a:r>
              <a:t>Le prototype rassemble huit fichiers CSV dans une seule interface. Il calcule vingt indicateurs répartis sur six axes : la formation, la vie étudiante, les entreprises, l’international, la recherche et le budget. L’utilisateur choisit l’année, puis peut limiter l’analyse à FISE, FISEA ou Master. La vue d’ensemble met en avant quelques indicateurs clés. Chaque axe dispose aussi de ses graphiques et de ses valeurs détaillées. Le but est de passer rapidement d’une vue générale à une question précise, par exemple le taux de réussite ou les mobilités à l’étranger. Le catalogue décrit chaque indicateur et sa formule, pour que l’on puisse vérifier ce que mesure un chiffre.</a:t>
            </a:r>
          </a:p>
          <a:p xmlns:a="http://schemas.openxmlformats.org/drawingml/2006/main">
            <a:r>
              <a:t/>
            </a:r>
          </a:p>
          <a:p xmlns:a="http://schemas.openxmlformats.org/drawingml/2006/main">
            <a:r>
              <a:t>Sources : README.md, js/indicateurs.js, index.html, js/app.js.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1:15 à 2:25</a:t>
            </a:r>
          </a:p>
          <a:p xmlns:a="http://schemas.openxmlformats.org/drawingml/2006/main">
            <a:r>
              <a:t/>
            </a:r>
          </a:p>
          <a:p xmlns:a="http://schemas.openxmlformats.org/drawingml/2006/main">
            <a:r>
              <a:t>Pour illustrer le tableau, regardons trois évolutions calculées à partir des fichiers. L’effectif passe de 560 élèves en 2020 à 712 en 2025, soit une hausse de 27 pour cent. Le taux de réussite passe de 87,7 à 91,5 pour cent, une progression de 3,8 points. Enfin, le total de taxe d’apprentissage passe de 51 660 euros à 236 750 euros, soit environ 4,6 fois le montant de départ. La progression des effectifs s’accélère surtout entre 2021 et 2022, puis se poursuit plus lentement. La taxe atteint environ 230 000 euros en 2023, se stabilise l’année suivante, puis monte légèrement en 2025. Lire la série complète aide à distinguer une tendance d’une variation ponctuelle. Ces chiffres montrent comment le tableau permet de comparer plusieurs années. Ils servent uniquement à démontrer le fonctionnement, car les données du kit sont fictives.</a:t>
            </a:r>
          </a:p>
          <a:p xmlns:a="http://schemas.openxmlformats.org/drawingml/2006/main">
            <a:r>
              <a:t/>
            </a:r>
          </a:p>
          <a:p xmlns:a="http://schemas.openxmlformats.org/drawingml/2006/main">
            <a:r>
              <a:t>Sources : js/indicateurs.js, data/formation_effectifs.csv, data/formation_admissions_diplomes.csv, data/entreprises_taxe_apprentissage.csv,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2:25 à 3:20</a:t>
            </a:r>
          </a:p>
          <a:p xmlns:a="http://schemas.openxmlformats.org/drawingml/2006/main">
            <a:r>
              <a:t/>
            </a:r>
          </a:p>
          <a:p xmlns:a="http://schemas.openxmlformats.org/drawingml/2006/main">
            <a:r>
              <a:t>Le tableau peut aussi signaler les valeurs qui passent sous un seuil défini. Dans le jeu de démonstration 2025, trois indicateurs déclenchent une alerte : la part de femmes est de 23,2 pour cent pour un seuil de 25. La satisfaction est de 3,6 sur 5 pour un seuil de 3,7. Enfin, les mobilités sortantes atteignent 8,85 pour 100 élèves, sous le seuil de 10. L’intérêt est de rendre l’écart visible et de pouvoir ouvrir ensuite l’indicateur pour consulter sa tendance et sa formule. Les tables sources restent accessibles dans l’onglet « Données et méthode ». Ces alertes ne sont pas des constats sur l’ensIIE : les données et les seuils servent ici de démonstration.</a:t>
            </a:r>
          </a:p>
          <a:p xmlns:a="http://schemas.openxmlformats.org/drawingml/2006/main">
            <a:r>
              <a:t/>
            </a:r>
          </a:p>
          <a:p xmlns:a="http://schemas.openxmlformats.org/drawingml/2006/main">
            <a:r>
              <a:t>Sources : js/indicateurs.js, data/formation_effectifs.csv, data/vie_etudiante.csv, data/international_mobilites.csv,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3:20 à 4:15</a:t>
            </a:r>
          </a:p>
          <a:p xmlns:a="http://schemas.openxmlformats.org/drawingml/2006/main">
            <a:r>
              <a:t/>
            </a:r>
          </a:p>
          <a:p xmlns:a="http://schemas.openxmlformats.org/drawingml/2006/main">
            <a:r>
              <a:t>Le parcours d’utilisation tient en quatre gestes. On filtre d’abord l’année et les filières. On repère ensuite les alertes et les évolutions. Pour comprendre ce qu’on regarde, on peut consulter la définition, la formule de calcul et les données sources. Enfin, on exporte les indicateurs en CSV pour les reprendre ailleurs. Le choix d’une autre année met à jour les valeurs et les graphiques sans recalcul manuel. Le filtre de filière s’applique aux indicateurs de formation et aux stages concernés. L’interface conserve une vue d’ensemble tout en donnant accès aux six axes. Elle permet donc une lecture rapide, puis une vérification des calculs derrière chaque chiffre.</a:t>
            </a:r>
          </a:p>
          <a:p xmlns:a="http://schemas.openxmlformats.org/drawingml/2006/main">
            <a:r>
              <a:t/>
            </a:r>
          </a:p>
          <a:p xmlns:a="http://schemas.openxmlformats.org/drawingml/2006/main">
            <a:r>
              <a:t>Sources : README.md, js/app.js, js/indicateurs.js.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4:15 à 5:00</a:t>
            </a:r>
          </a:p>
          <a:p xmlns:a="http://schemas.openxmlformats.org/drawingml/2006/main">
            <a:r>
              <a:t/>
            </a:r>
          </a:p>
          <a:p xmlns:a="http://schemas.openxmlformats.org/drawingml/2006/main">
            <a:r>
              <a:t>Le prototype fournit une base de pilotage, mais son passage à l’usage réel dépend de données officielles. Il faudra remplacer les fichiers fictifs par les exports validés de l’école, puis confirmer avec les responsables de chaque axe les définitions et les seuils d’alerte. Cette validation évitera de présenter une règle de démonstration comme un objectif adopté par l’école. Pour montrer le fonctionnement en direct, nous pouvons sélectionner une filière, ouvrir un axe, puis lire l’évolution d’un indicateur et son seuil. Merci.</a:t>
            </a:r>
          </a:p>
          <a:p xmlns:a="http://schemas.openxmlformats.org/drawingml/2006/main">
            <a:r>
              <a:t/>
            </a:r>
          </a:p>
          <a:p xmlns:a="http://schemas.openxmlformats.org/drawingml/2006/main">
            <a:r>
              <a:t>Sources : README.md, js/indicateurs.js.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68a072b1f744a7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8d0d9c8e5774c3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08780d182ea4d7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a9b62e12bb1468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8baa4ed07f7450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8921c3e98024d0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760156-3855-472D-8D61-626350B2574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EF1C9BE-9931-40F0-91A7-3AAD018F505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EEC4D39-8786-426B-B1FA-24A6E24AA2A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02EFF75-02E1-469F-98AF-790462793F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D675BF3-8A84-4A97-A834-43A519B41EC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82A7581-EA56-4DBE-ABB2-C7B9B088C8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F57084D-A748-4EEF-A709-8AB11AB1EA0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FA9A2DD-5BFE-43C4-B06B-166674BD595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A589F1-73A7-44F5-82B0-4B437BB31F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9F61042-4EA4-48BA-BFF1-0CB59A1B057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f780c44c714543" /><Relationship Type="http://schemas.openxmlformats.org/officeDocument/2006/relationships/slideLayout" Target="/ppt/slideLayouts/slideLayout1.xml" Id="R47e864090da749e2" /><Relationship Type="http://schemas.openxmlformats.org/officeDocument/2006/relationships/slideLayout" Target="/ppt/slideLayouts/slideLayout2.xml" Id="Ra75accb730cb4bdb" /><Relationship Type="http://schemas.openxmlformats.org/officeDocument/2006/relationships/slideLayout" Target="/ppt/slideLayouts/slideLayout3.xml" Id="R07b3dcec59d742af" /><Relationship Type="http://schemas.openxmlformats.org/officeDocument/2006/relationships/slideLayout" Target="/ppt/slideLayouts/slideLayout4.xml" Id="R1061263ec9e24edf" /><Relationship Type="http://schemas.openxmlformats.org/officeDocument/2006/relationships/slideLayout" Target="/ppt/slideLayouts/slideLayout5.xml" Id="Rd553c737f96a41df" /><Relationship Type="http://schemas.openxmlformats.org/officeDocument/2006/relationships/slideLayout" Target="/ppt/slideLayouts/slideLayout6.xml" Id="Re449ef7bab9d49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7e864090da749e2"/>
    <p:sldLayoutId xmlns:r="http://schemas.openxmlformats.org/officeDocument/2006/relationships" id="2147483650" r:id="Ra75accb730cb4bdb"/>
    <p:sldLayoutId xmlns:r="http://schemas.openxmlformats.org/officeDocument/2006/relationships" id="2147483651" r:id="R07b3dcec59d742af"/>
    <p:sldLayoutId xmlns:r="http://schemas.openxmlformats.org/officeDocument/2006/relationships" id="2147483652" r:id="R1061263ec9e24edf"/>
    <p:sldLayoutId xmlns:r="http://schemas.openxmlformats.org/officeDocument/2006/relationships" id="2147483653" r:id="Rd553c737f96a41df"/>
    <p:sldLayoutId xmlns:r="http://schemas.openxmlformats.org/officeDocument/2006/relationships" id="2147483654" r:id="Re449ef7bab9d49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1cf515f06d04126" /><Relationship Type="http://schemas.openxmlformats.org/officeDocument/2006/relationships/notesSlide" Target="/ppt/notesSlides/notesSlide1.xml" Id="R19024cc2fed34a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4a6eab118564116" /><Relationship Type="http://schemas.openxmlformats.org/officeDocument/2006/relationships/notesSlide" Target="/ppt/notesSlides/notesSlide2.xml" Id="R7313ce88b26247b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2e19253bd904e59" /><Relationship Type="http://schemas.openxmlformats.org/officeDocument/2006/relationships/chart" Target="/ppt/slides/charts/chart1.xml" Id="R7d4effe7f6c54206" /><Relationship Type="http://schemas.openxmlformats.org/officeDocument/2006/relationships/notesSlide" Target="/ppt/notesSlides/notesSlide3.xml" Id="Rba5e9747c108451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a9f1a925b9341cb" /><Relationship Type="http://schemas.openxmlformats.org/officeDocument/2006/relationships/notesSlide" Target="/ppt/notesSlides/notesSlide4.xml" Id="R0fcd6e47d387491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8a36fe49aae40a2" /><Relationship Type="http://schemas.openxmlformats.org/officeDocument/2006/relationships/notesSlide" Target="/ppt/notesSlides/notesSlide5.xml" Id="R4b0fbf8e05c140e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77669cc182b4250" /><Relationship Type="http://schemas.openxmlformats.org/officeDocument/2006/relationships/notesSlide" Target="/ppt/notesSlides/notesSlide6.xml" Id="Rdf02a722dbb1468b" /></Relationships>
</file>

<file path=ppt/slides/charts/chart1.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800" b="1">
                <a:solidFill>
                  <a:srgbClr val="183B66"/>
                </a:solidFill>
                <a:latin typeface="Helvetica Neue"/>
                <a:ea typeface="Helvetica Neue"/>
                <a:cs typeface="Helvetica Neue"/>
              </a:rPr>
              <a:t>Effectif total</a:t>
            </a:r>
          </a:p>
        </c:rich>
      </c:tx>
      <c:overlay val="0"/>
      <c:txPr>
        <a:bodyPr xmlns:a="http://schemas.openxmlformats.org/drawingml/2006/main" anchorCtr="1"/>
        <a:lstStyle xmlns:a="http://schemas.openxmlformats.org/drawingml/2006/main"/>
        <a:p xmlns:a="http://schemas.openxmlformats.org/drawingml/2006/main">
          <a:pPr algn="ctr">
            <a:defRPr sz="1800" b="1">
              <a:solidFill>
                <a:srgbClr val="183B66"/>
              </a:solidFill>
              <a:latin typeface="Helvetica Neue"/>
              <a:ea typeface="Helvetica Neue"/>
              <a:cs typeface="Helvetica Neue"/>
            </a:defRPr>
          </a:pPr>
        </a:p>
      </c:txPr>
    </c:title>
    <c:plotArea>
      <c:lineChart>
        <c:grouping val="standard"/>
        <c:varyColors val="0"/>
        <c:ser>
          <c:idx val="0"/>
          <c:order val="0"/>
          <c:tx>
            <c:v>Élèves</c:v>
          </c:tx>
          <c:spPr>
            <a:ln xmlns:a="http://schemas.openxmlformats.org/drawingml/2006/main" w="28575">
              <a:solidFill>
                <a:srgbClr val="2A78D6"/>
              </a:solidFill>
              <a:prstDash val="solid"/>
            </a:ln>
          </c:spPr>
          <c:marker>
            <c:symbol val="circle"/>
            <c:size val="8"/>
            <c:spPr>
              <a:solidFill xmlns:a="http://schemas.openxmlformats.org/drawingml/2006/main">
                <a:srgbClr val="2A78D6"/>
              </a:solidFill>
            </c:spPr>
          </c:marker>
          <c:dPt>
            <c:idx val="5"/>
            <c:spPr>
              <a:solidFill xmlns:a="http://schemas.openxmlformats.org/drawingml/2006/main">
                <a:srgbClr val="E88945"/>
              </a:solidFill>
              <a:ln xmlns:a="http://schemas.openxmlformats.org/drawingml/2006/main" w="9525">
                <a:solidFill>
                  <a:srgbClr val="E88945"/>
                </a:solidFill>
                <a:prstDash val="solid"/>
              </a:ln>
            </c:spPr>
          </c:dPt>
          <c:cat>
            <c:numLit>
              <c:formatCode>General</c:formatCode>
              <c:ptCount val="6"/>
              <c:pt idx="0">
                <c:v>2020</c:v>
              </c:pt>
              <c:pt idx="1">
                <c:v>2021</c:v>
              </c:pt>
              <c:pt idx="2">
                <c:v>2022</c:v>
              </c:pt>
              <c:pt idx="3">
                <c:v>2023</c:v>
              </c:pt>
              <c:pt idx="4">
                <c:v>2024</c:v>
              </c:pt>
              <c:pt idx="5">
                <c:v>2025</c:v>
              </c:pt>
            </c:numLit>
          </c:cat>
          <c:val>
            <c:numLit>
              <c:formatCode>0</c:formatCode>
              <c:ptCount val="6"/>
              <c:pt idx="0">
                <c:v>560</c:v>
              </c:pt>
              <c:pt idx="1">
                <c:v>568</c:v>
              </c:pt>
              <c:pt idx="2">
                <c:v>642</c:v>
              </c:pt>
              <c:pt idx="3">
                <c:v>660</c:v>
              </c:pt>
              <c:pt idx="4">
                <c:v>702</c:v>
              </c:pt>
              <c:pt idx="5">
                <c:v>712</c:v>
              </c:pt>
            </c:numLit>
          </c:val>
          <c:smooth val="0"/>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6DEE8"/>
            </a:solidFill>
            <a:prstDash val="solid"/>
          </a:ln>
        </c:spPr>
        <c:txPr>
          <a:bodyPr xmlns:a="http://schemas.openxmlformats.org/drawingml/2006/main" anchorCtr="1"/>
          <a:lstStyle xmlns:a="http://schemas.openxmlformats.org/drawingml/2006/main"/>
          <a:p xmlns:a="http://schemas.openxmlformats.org/drawingml/2006/main">
            <a:pPr>
              <a:defRPr sz="1200">
                <a:solidFill>
                  <a:srgbClr val="596575"/>
                </a:solidFill>
                <a:latin typeface="Helvetica Neue"/>
                <a:ea typeface="Helvetica Neue"/>
                <a:cs typeface="Helvetica Neue"/>
              </a:defRPr>
            </a:pPr>
          </a:p>
        </c:txPr>
        <c:crossAx val="48672768"/>
      </c:catAx>
      <c:valAx>
        <c:axId val="48672768"/>
        <c:scaling>
          <c:orientation val="minMax"/>
          <c:max val="750"/>
          <c:min val="520"/>
        </c:scaling>
        <c:delete val="0"/>
        <c:axPos val="l"/>
        <c:majorGridlines>
          <c:spPr>
            <a:ln xmlns:a="http://schemas.openxmlformats.org/drawingml/2006/main" w="9525">
              <a:solidFill>
                <a:srgbClr val="E3E8ED"/>
              </a:solidFill>
              <a:prstDash val="solid"/>
            </a:ln>
          </c:spPr>
        </c:majorGridlines>
        <c:title>
          <c:tx>
            <c:rich>
              <a:bodyPr xmlns:a="http://schemas.openxmlformats.org/drawingml/2006/main"/>
              <a:lstStyle xmlns:a="http://schemas.openxmlformats.org/drawingml/2006/main"/>
              <a:p xmlns:a="http://schemas.openxmlformats.org/drawingml/2006/main">
                <a:r>
                  <a:rPr sz="1200">
                    <a:solidFill>
                      <a:srgbClr val="596575"/>
                    </a:solidFill>
                    <a:latin typeface="Helvetica Neue"/>
                    <a:ea typeface="Helvetica Neue"/>
                    <a:cs typeface="Helvetica Neue"/>
                  </a:rPr>
                  <a:t>Élèves</a:t>
                </a:r>
              </a:p>
            </c:rich>
          </c:tx>
          <c:overlay val="0"/>
          <c:txPr>
            <a:bodyPr xmlns:a="http://schemas.openxmlformats.org/drawingml/2006/main" anchorCtr="1"/>
            <a:lstStyle xmlns:a="http://schemas.openxmlformats.org/drawingml/2006/main"/>
            <a:p xmlns:a="http://schemas.openxmlformats.org/drawingml/2006/main">
              <a:pPr>
                <a:defRPr sz="1200">
                  <a:solidFill>
                    <a:srgbClr val="596575"/>
                  </a:solidFill>
                  <a:latin typeface="Helvetica Neue"/>
                  <a:ea typeface="Helvetica Neue"/>
                  <a:cs typeface="Helvetica Neue"/>
                </a:defRPr>
              </a:pPr>
            </a:p>
          </c:txPr>
        </c:title>
        <c:numFmt formatCode="0"/>
        <c:majorTickMark val="none"/>
        <c:minorTickMark val="none"/>
        <c:spPr>
          <a:ln xmlns:a="http://schemas.openxmlformats.org/drawingml/2006/main" w="9525">
            <a:solidFill>
              <a:srgbClr val="D6DEE8"/>
            </a:solidFill>
            <a:prstDash val="solid"/>
          </a:ln>
        </c:spPr>
        <c:txPr>
          <a:bodyPr xmlns:a="http://schemas.openxmlformats.org/drawingml/2006/main" anchorCtr="1"/>
          <a:lstStyle xmlns:a="http://schemas.openxmlformats.org/drawingml/2006/main"/>
          <a:p xmlns:a="http://schemas.openxmlformats.org/drawingml/2006/main">
            <a:pPr>
              <a:defRPr sz="1200">
                <a:solidFill>
                  <a:srgbClr val="596575"/>
                </a:solidFill>
                <a:latin typeface="Helvetica Neue"/>
                <a:ea typeface="Helvetica Neue"/>
                <a:cs typeface="Helvetica Neue"/>
              </a:defRPr>
            </a:pPr>
          </a:p>
        </c:txPr>
        <c:crossAx val="48650112"/>
        <c:crossBetween val="between"/>
        <c:majorUnit val="50"/>
      </c:valAx>
      <c:spPr>
        <a:solidFill xmlns:a="http://schemas.openxmlformats.org/drawingml/2006/main">
          <a:srgbClr val="F6F7F8"/>
        </a:solidFill>
        <a:ln xmlns:a="http://schemas.openxmlformats.org/drawingml/2006/main" w="0">
          <a:solidFill>
            <a:srgbClr val="F6F7F8"/>
          </a:solidFill>
          <a:prstDash val="solid"/>
        </a:ln>
      </c:spPr>
    </c:plotArea>
    <c:plotVisOnly val="1"/>
  </c:chart>
  <c:spPr>
    <a:solidFill xmlns:a="http://schemas.openxmlformats.org/drawingml/2006/main">
      <a:srgbClr val="F6F7F8"/>
    </a:solidFill>
    <a:ln xmlns:a="http://schemas.openxmlformats.org/drawingml/2006/main" w="0">
      <a:solidFill>
        <a:srgbClr val="F6F7F8"/>
      </a:solidFill>
      <a:prstDash val="solid"/>
    </a:ln>
  </c:spPr>
</c:chartSpace>
</file>

<file path=ppt/slides/slide1.xml><?xml version="1.0" encoding="utf-8"?>
<p:sld xmlns:p="http://schemas.openxmlformats.org/presentationml/2006/main">
  <p:cSld>
    <p:bg>
      <p:bgPr>
        <a:solidFill xmlns:a="http://schemas.openxmlformats.org/drawingml/2006/main">
          <a:srgbClr val="183B6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6E62914-EFCE-4146-AC80-B061E38F3973}"/>
              </a:ext>
            </a:extLst>
          </p:cNvPr>
          <p:cNvSpPr>
            <a:spLocks xmlns:a="http://schemas.openxmlformats.org/drawingml/2006/main" noGrp="1"/>
          </p:cNvSpPr>
          <p:nvPr/>
        </p:nvSpPr>
        <p:spPr>
          <a:xfrm xmlns:a="http://schemas.openxmlformats.org/drawingml/2006/main">
            <a:off x="781050" y="1562100"/>
            <a:ext cx="47625" cy="1952625"/>
          </a:xfrm>
          <a:prstGeom xmlns:a="http://schemas.openxmlformats.org/drawingml/2006/main" prst="rect">
            <a:avLst/>
          </a:prstGeom>
          <a:solidFill xmlns:a="http://schemas.openxmlformats.org/drawingml/2006/main">
            <a:srgbClr val="E889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FC7A0D0-06B5-4CD3-9833-CA9E85E393EF}"/>
              </a:ext>
            </a:extLst>
          </p:cNvPr>
          <p:cNvSpPr>
            <a:spLocks xmlns:a="http://schemas.openxmlformats.org/drawingml/2006/main" noGrp="1"/>
          </p:cNvSpPr>
          <p:nvPr/>
        </p:nvSpPr>
        <p:spPr>
          <a:xfrm xmlns:a="http://schemas.openxmlformats.org/drawingml/2006/main">
            <a:off x="1162050" y="857250"/>
            <a:ext cx="304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1">
                <a:solidFill>
                  <a:srgbClr val="FFFFFF"/>
                </a:solidFill>
                <a:latin typeface="Helvetica Neue"/>
                <a:ea typeface="Helvetica Neue"/>
                <a:cs typeface="Helvetica Neue"/>
              </a:defRPr>
            </a:defPPr>
          </a:lstStyle>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ensIIE</a:t>
            </a:r>
          </a:p>
        </p:txBody>
      </p:sp>
      <p:sp>
        <p:nvSpPr>
          <p:cNvPr id="3" name="">
            <a:extLst xmlns:a="http://schemas.openxmlformats.org/drawingml/2006/main">
              <a:ext uri="{FF2B5EF4-FFF2-40B4-BE49-F238E27FC236}">
                <a16:creationId xmlns:a16="http://schemas.microsoft.com/office/drawing/2014/main" id="{87AE3A55-AF8A-47BF-BFC5-1CC58AC9C02C}"/>
              </a:ext>
            </a:extLst>
          </p:cNvPr>
          <p:cNvSpPr>
            <a:spLocks xmlns:a="http://schemas.openxmlformats.org/drawingml/2006/main" noGrp="1"/>
          </p:cNvSpPr>
          <p:nvPr/>
        </p:nvSpPr>
        <p:spPr>
          <a:xfrm xmlns:a="http://schemas.openxmlformats.org/drawingml/2006/main">
            <a:off x="1162050" y="1381125"/>
            <a:ext cx="5334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1">
                <a:solidFill>
                  <a:srgbClr val="E88945"/>
                </a:solidFill>
                <a:latin typeface="Helvetica Neue"/>
                <a:ea typeface="Helvetica Neue"/>
                <a:cs typeface="Helvetica Neue"/>
              </a:defRPr>
            </a:defPPr>
          </a:lstStyle>
          <a:p xmlns:a="http://schemas.openxmlformats.org/drawingml/2006/main">
            <a:pPr algn="l">
              <a:defRPr sz="1350" b="1">
                <a:solidFill>
                  <a:srgbClr val="E88945"/>
                </a:solidFill>
                <a:latin typeface="Helvetica Neue"/>
                <a:ea typeface="Helvetica Neue"/>
                <a:cs typeface="Helvetica Neue"/>
              </a:defRPr>
            </a:pPr>
            <a:r>
              <a:rPr sz="1350" b="1">
                <a:solidFill>
                  <a:srgbClr val="E88945"/>
                </a:solidFill>
                <a:latin typeface="Helvetica Neue"/>
                <a:ea typeface="Helvetica Neue"/>
                <a:cs typeface="Helvetica Neue"/>
              </a:rPr>
              <a:t>HACKATHON 2026     PROJET 3</a:t>
            </a:r>
          </a:p>
        </p:txBody>
      </p:sp>
      <p:sp>
        <p:nvSpPr>
          <p:cNvPr id="4" name="">
            <a:extLst xmlns:a="http://schemas.openxmlformats.org/drawingml/2006/main">
              <a:ext uri="{FF2B5EF4-FFF2-40B4-BE49-F238E27FC236}">
                <a16:creationId xmlns:a16="http://schemas.microsoft.com/office/drawing/2014/main" id="{B581EF3F-73FA-4D6A-A302-0000F5F7C581}"/>
              </a:ext>
            </a:extLst>
          </p:cNvPr>
          <p:cNvSpPr>
            <a:spLocks xmlns:a="http://schemas.openxmlformats.org/drawingml/2006/main" noGrp="1"/>
          </p:cNvSpPr>
          <p:nvPr/>
        </p:nvSpPr>
        <p:spPr>
          <a:xfrm xmlns:a="http://schemas.openxmlformats.org/drawingml/2006/main">
            <a:off x="1162050" y="2047875"/>
            <a:ext cx="8858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275" b="1">
                <a:solidFill>
                  <a:srgbClr val="FFFFFF"/>
                </a:solidFill>
                <a:latin typeface="Helvetica Neue"/>
                <a:ea typeface="Helvetica Neue"/>
                <a:cs typeface="Helvetica Neue"/>
              </a:defRPr>
            </a:defPPr>
          </a:lstStyle>
          <a:p xmlns:a="http://schemas.openxmlformats.org/drawingml/2006/main">
            <a:pPr algn="l">
              <a:defRPr sz="4275" b="1">
                <a:solidFill>
                  <a:srgbClr val="FFFFFF"/>
                </a:solidFill>
                <a:latin typeface="Helvetica Neue"/>
                <a:ea typeface="Helvetica Neue"/>
                <a:cs typeface="Helvetica Neue"/>
              </a:defRPr>
            </a:pPr>
            <a:r>
              <a:rPr sz="4275" b="1">
                <a:solidFill>
                  <a:srgbClr val="FFFFFF"/>
                </a:solidFill>
                <a:latin typeface="Helvetica Neue"/>
                <a:ea typeface="Helvetica Neue"/>
                <a:cs typeface="Helvetica Neue"/>
              </a:rPr>
              <a:t>Tableau de bord</a:t>
            </a:r>
          </a:p>
          <a:p xmlns:a="http://schemas.openxmlformats.org/drawingml/2006/main">
            <a:pPr algn="l">
              <a:defRPr sz="4275" b="1">
                <a:solidFill>
                  <a:srgbClr val="FFFFFF"/>
                </a:solidFill>
                <a:latin typeface="Helvetica Neue"/>
                <a:ea typeface="Helvetica Neue"/>
                <a:cs typeface="Helvetica Neue"/>
              </a:defRPr>
            </a:pPr>
            <a:r>
              <a:rPr sz="4275" b="1">
                <a:solidFill>
                  <a:srgbClr val="FFFFFF"/>
                </a:solidFill>
                <a:latin typeface="Helvetica Neue"/>
                <a:ea typeface="Helvetica Neue"/>
                <a:cs typeface="Helvetica Neue"/>
              </a:rPr>
              <a:t>stratégique</a:t>
            </a:r>
          </a:p>
        </p:txBody>
      </p:sp>
      <p:sp>
        <p:nvSpPr>
          <p:cNvPr id="5" name="">
            <a:extLst xmlns:a="http://schemas.openxmlformats.org/drawingml/2006/main">
              <a:ext uri="{FF2B5EF4-FFF2-40B4-BE49-F238E27FC236}">
                <a16:creationId xmlns:a16="http://schemas.microsoft.com/office/drawing/2014/main" id="{8BF305C0-9D43-402A-B00D-340988B6F4E9}"/>
              </a:ext>
            </a:extLst>
          </p:cNvPr>
          <p:cNvSpPr>
            <a:spLocks xmlns:a="http://schemas.openxmlformats.org/drawingml/2006/main" noGrp="1"/>
          </p:cNvSpPr>
          <p:nvPr/>
        </p:nvSpPr>
        <p:spPr>
          <a:xfrm xmlns:a="http://schemas.openxmlformats.org/drawingml/2006/main">
            <a:off x="1162050" y="3714750"/>
            <a:ext cx="8858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a:solidFill>
                  <a:srgbClr val="FFFFFF"/>
                </a:solidFill>
                <a:latin typeface="Helvetica Neue"/>
                <a:ea typeface="Helvetica Neue"/>
                <a:cs typeface="Helvetica Neue"/>
              </a:defRPr>
            </a:defPPr>
          </a:lstStyle>
          <a:p xmlns:a="http://schemas.openxmlformats.org/drawingml/2006/main">
            <a:pPr algn="l">
              <a:defRPr sz="2175">
                <a:solidFill>
                  <a:srgbClr val="FFFFFF"/>
                </a:solidFill>
                <a:latin typeface="Helvetica Neue"/>
                <a:ea typeface="Helvetica Neue"/>
                <a:cs typeface="Helvetica Neue"/>
              </a:defRPr>
            </a:pPr>
            <a:r>
              <a:rPr sz="2175">
                <a:solidFill>
                  <a:srgbClr val="FFFFFF"/>
                </a:solidFill>
                <a:latin typeface="Helvetica Neue"/>
                <a:ea typeface="Helvetica Neue"/>
                <a:cs typeface="Helvetica Neue"/>
              </a:rPr>
              <a:t>20 indicateurs pour suivre six axes de pilotage</a:t>
            </a:r>
          </a:p>
        </p:txBody>
      </p:sp>
      <p:sp>
        <p:nvSpPr>
          <p:cNvPr id="6" name="">
            <a:extLst xmlns:a="http://schemas.openxmlformats.org/drawingml/2006/main">
              <a:ext uri="{FF2B5EF4-FFF2-40B4-BE49-F238E27FC236}">
                <a16:creationId xmlns:a16="http://schemas.microsoft.com/office/drawing/2014/main" id="{7AB9273B-3C5E-4A2D-A5C1-AD8FDD5E310C}"/>
              </a:ext>
            </a:extLst>
          </p:cNvPr>
          <p:cNvSpPr>
            <a:spLocks xmlns:a="http://schemas.openxmlformats.org/drawingml/2006/main" noGrp="1"/>
          </p:cNvSpPr>
          <p:nvPr/>
        </p:nvSpPr>
        <p:spPr>
          <a:xfrm xmlns:a="http://schemas.openxmlformats.org/drawingml/2006/main">
            <a:off x="1162050" y="5162550"/>
            <a:ext cx="904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a:solidFill>
                  <a:srgbClr val="DCE6F1"/>
                </a:solidFill>
                <a:latin typeface="Helvetica Neue"/>
                <a:ea typeface="Helvetica Neue"/>
                <a:cs typeface="Helvetica Neue"/>
              </a:defRPr>
            </a:defPPr>
          </a:lstStyle>
          <a:p xmlns:a="http://schemas.openxmlformats.org/drawingml/2006/main">
            <a:pPr algn="l">
              <a:defRPr sz="1500">
                <a:solidFill>
                  <a:srgbClr val="DCE6F1"/>
                </a:solidFill>
                <a:latin typeface="Helvetica Neue"/>
                <a:ea typeface="Helvetica Neue"/>
                <a:cs typeface="Helvetica Neue"/>
              </a:defRPr>
            </a:pPr>
            <a:r>
              <a:rPr sz="1500">
                <a:solidFill>
                  <a:srgbClr val="DCE6F1"/>
                </a:solidFill>
                <a:latin typeface="Helvetica Neue"/>
                <a:ea typeface="Helvetica Neue"/>
                <a:cs typeface="Helvetica Neue"/>
              </a:rPr>
              <a:t>Démonstration sur des données fictives, de 2020 à 2025</a:t>
            </a:r>
          </a:p>
        </p:txBody>
      </p:sp>
    </p:spTree>
    <p:extLst>
      <p:ext uri="{BB962C8B-B14F-4D97-AF65-F5344CB8AC3E}">
        <p14:creationId xmlns:p14="http://schemas.microsoft.com/office/powerpoint/2010/main" val="1043528537"/>
      </p:ext>
    </p:extLst>
  </p:cSld>
</p:sld>
</file>

<file path=ppt/slides/slide2.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33C670B-E7DF-4C56-BD5B-D5CF3AD4323E}"/>
              </a:ext>
            </a:extLst>
          </p:cNvPr>
          <p:cNvSpPr>
            <a:spLocks xmlns:a="http://schemas.openxmlformats.org/drawingml/2006/main" noGrp="1"/>
          </p:cNvSpPr>
          <p:nvPr/>
        </p:nvSpPr>
        <p:spPr>
          <a:xfrm xmlns:a="http://schemas.openxmlformats.org/drawingml/2006/main">
            <a:off x="685800" y="266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183B66"/>
                </a:solidFill>
                <a:latin typeface="Helvetica Neue"/>
                <a:ea typeface="Helvetica Neue"/>
                <a:cs typeface="Helvetica Neue"/>
              </a:defRPr>
            </a:defPPr>
          </a:lstStyle>
          <a:p xmlns:a="http://schemas.openxmlformats.org/drawingml/2006/main">
            <a:pPr algn="l">
              <a:defRPr sz="2325" b="1">
                <a:solidFill>
                  <a:srgbClr val="183B66"/>
                </a:solidFill>
                <a:latin typeface="Helvetica Neue"/>
                <a:ea typeface="Helvetica Neue"/>
                <a:cs typeface="Helvetica Neue"/>
              </a:defRPr>
            </a:pPr>
            <a:r>
              <a:rPr sz="2325" b="1">
                <a:solidFill>
                  <a:srgbClr val="183B66"/>
                </a:solidFill>
                <a:latin typeface="Helvetica Neue"/>
                <a:ea typeface="Helvetica Neue"/>
                <a:cs typeface="Helvetica Neue"/>
              </a:rPr>
              <a:t>Un tableau de bord, six axes</a:t>
            </a:r>
          </a:p>
        </p:txBody>
      </p:sp>
      <p:sp>
        <p:nvSpPr>
          <p:cNvPr id="2" name="">
            <a:extLst xmlns:a="http://schemas.openxmlformats.org/drawingml/2006/main">
              <a:ext uri="{FF2B5EF4-FFF2-40B4-BE49-F238E27FC236}">
                <a16:creationId xmlns:a16="http://schemas.microsoft.com/office/drawing/2014/main" id="{76B48135-BBC2-4E1D-A376-0CC41A86DF7C}"/>
              </a:ext>
            </a:extLst>
          </p:cNvPr>
          <p:cNvSpPr>
            <a:spLocks xmlns:a="http://schemas.openxmlformats.org/drawingml/2006/main" noGrp="1"/>
          </p:cNvSpPr>
          <p:nvPr/>
        </p:nvSpPr>
        <p:spPr>
          <a:xfrm xmlns:a="http://schemas.openxmlformats.org/drawingml/2006/main">
            <a:off x="685800" y="933450"/>
            <a:ext cx="10820400" cy="28575"/>
          </a:xfrm>
          <a:prstGeom xmlns:a="http://schemas.openxmlformats.org/drawingml/2006/main" prst="rect">
            <a:avLst/>
          </a:prstGeom>
          <a:solidFill xmlns:a="http://schemas.openxmlformats.org/drawingml/2006/main">
            <a:srgbClr val="E8894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00332D7-4DA1-4A1F-A369-79B5D3BBB14F}"/>
              </a:ext>
            </a:extLst>
          </p:cNvPr>
          <p:cNvSpPr>
            <a:spLocks xmlns:a="http://schemas.openxmlformats.org/drawingml/2006/main" noGrp="1"/>
          </p:cNvSpPr>
          <p:nvPr/>
        </p:nvSpPr>
        <p:spPr>
          <a:xfrm xmlns:a="http://schemas.openxmlformats.org/drawingml/2006/main">
            <a:off x="685800" y="64389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a:solidFill>
                  <a:srgbClr val="596575"/>
                </a:solidFill>
                <a:latin typeface="Helvetica Neue"/>
                <a:ea typeface="Helvetica Neue"/>
                <a:cs typeface="Helvetica Neue"/>
              </a:defRPr>
            </a:defPPr>
          </a:lstStyle>
          <a:p xmlns:a="http://schemas.openxmlformats.org/drawingml/2006/main">
            <a:pPr algn="l">
              <a:defRPr sz="1050">
                <a:solidFill>
                  <a:srgbClr val="596575"/>
                </a:solidFill>
                <a:latin typeface="Helvetica Neue"/>
                <a:ea typeface="Helvetica Neue"/>
                <a:cs typeface="Helvetica Neue"/>
              </a:defRPr>
            </a:pPr>
            <a:r>
              <a:rPr sz="1050">
                <a:solidFill>
                  <a:srgbClr val="596575"/>
                </a:solidFill>
                <a:latin typeface="Helvetica Neue"/>
                <a:ea typeface="Helvetica Neue"/>
                <a:cs typeface="Helvetica Neue"/>
              </a:rPr>
              <a:t>Hackathon ensIIE 2026, projet 3</a:t>
            </a:r>
          </a:p>
        </p:txBody>
      </p:sp>
      <p:sp>
        <p:nvSpPr>
          <p:cNvPr id="4" name="">
            <a:extLst xmlns:a="http://schemas.openxmlformats.org/drawingml/2006/main">
              <a:ext uri="{FF2B5EF4-FFF2-40B4-BE49-F238E27FC236}">
                <a16:creationId xmlns:a16="http://schemas.microsoft.com/office/drawing/2014/main" id="{86566258-547E-4360-AE5B-7BD2CC746EA9}"/>
              </a:ext>
            </a:extLst>
          </p:cNvPr>
          <p:cNvSpPr>
            <a:spLocks xmlns:a="http://schemas.openxmlformats.org/drawingml/2006/main" noGrp="1"/>
          </p:cNvSpPr>
          <p:nvPr/>
        </p:nvSpPr>
        <p:spPr>
          <a:xfrm xmlns:a="http://schemas.openxmlformats.org/drawingml/2006/main">
            <a:off x="10953750" y="643890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a:solidFill>
                  <a:srgbClr val="596575"/>
                </a:solidFill>
                <a:latin typeface="Helvetica Neue"/>
                <a:ea typeface="Helvetica Neue"/>
                <a:cs typeface="Helvetica Neue"/>
              </a:defRPr>
            </a:defPPr>
          </a:lstStyle>
          <a:p xmlns:a="http://schemas.openxmlformats.org/drawingml/2006/main">
            <a:pPr algn="r">
              <a:defRPr sz="1050">
                <a:solidFill>
                  <a:srgbClr val="596575"/>
                </a:solidFill>
                <a:latin typeface="Helvetica Neue"/>
                <a:ea typeface="Helvetica Neue"/>
                <a:cs typeface="Helvetica Neue"/>
              </a:defRPr>
            </a:pPr>
            <a:r>
              <a:rPr sz="1050">
                <a:solidFill>
                  <a:srgbClr val="596575"/>
                </a:solidFill>
                <a:latin typeface="Helvetica Neue"/>
                <a:ea typeface="Helvetica Neue"/>
                <a:cs typeface="Helvetica Neue"/>
              </a:rPr>
              <a:t>2/6</a:t>
            </a:r>
          </a:p>
        </p:txBody>
      </p:sp>
      <p:sp>
        <p:nvSpPr>
          <p:cNvPr id="5" name="">
            <a:extLst xmlns:a="http://schemas.openxmlformats.org/drawingml/2006/main">
              <a:ext uri="{FF2B5EF4-FFF2-40B4-BE49-F238E27FC236}">
                <a16:creationId xmlns:a16="http://schemas.microsoft.com/office/drawing/2014/main" id="{A28B5F3F-764F-4ABE-B043-1C2107853016}"/>
              </a:ext>
            </a:extLst>
          </p:cNvPr>
          <p:cNvSpPr>
            <a:spLocks xmlns:a="http://schemas.openxmlformats.org/drawingml/2006/main" noGrp="1"/>
          </p:cNvSpPr>
          <p:nvPr/>
        </p:nvSpPr>
        <p:spPr>
          <a:xfrm xmlns:a="http://schemas.openxmlformats.org/drawingml/2006/main">
            <a:off x="952500" y="1285875"/>
            <a:ext cx="2857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4575" b="1">
                <a:solidFill>
                  <a:srgbClr val="2A78D6"/>
                </a:solidFill>
                <a:latin typeface="Helvetica Neue"/>
                <a:ea typeface="Helvetica Neue"/>
                <a:cs typeface="Helvetica Neue"/>
              </a:defRPr>
            </a:defPPr>
          </a:lstStyle>
          <a:p xmlns:a="http://schemas.openxmlformats.org/drawingml/2006/main">
            <a:pPr algn="ctr">
              <a:defRPr sz="4575" b="1">
                <a:solidFill>
                  <a:srgbClr val="2A78D6"/>
                </a:solidFill>
                <a:latin typeface="Helvetica Neue"/>
                <a:ea typeface="Helvetica Neue"/>
                <a:cs typeface="Helvetica Neue"/>
              </a:defRPr>
            </a:pPr>
            <a:r>
              <a:rPr sz="4575" b="1">
                <a:solidFill>
                  <a:srgbClr val="2A78D6"/>
                </a:solidFill>
                <a:latin typeface="Helvetica Neue"/>
                <a:ea typeface="Helvetica Neue"/>
                <a:cs typeface="Helvetica Neue"/>
              </a:rPr>
              <a:t>8</a:t>
            </a:r>
          </a:p>
        </p:txBody>
      </p:sp>
      <p:sp>
        <p:nvSpPr>
          <p:cNvPr id="6" name="">
            <a:extLst xmlns:a="http://schemas.openxmlformats.org/drawingml/2006/main">
              <a:ext uri="{FF2B5EF4-FFF2-40B4-BE49-F238E27FC236}">
                <a16:creationId xmlns:a16="http://schemas.microsoft.com/office/drawing/2014/main" id="{E1CF471D-24AE-4425-9FD6-27E932DF79A0}"/>
              </a:ext>
            </a:extLst>
          </p:cNvPr>
          <p:cNvSpPr>
            <a:spLocks xmlns:a="http://schemas.openxmlformats.org/drawingml/2006/main" noGrp="1"/>
          </p:cNvSpPr>
          <p:nvPr/>
        </p:nvSpPr>
        <p:spPr>
          <a:xfrm xmlns:a="http://schemas.openxmlformats.org/drawingml/2006/main">
            <a:off x="952500" y="20097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a:solidFill>
                  <a:srgbClr val="596575"/>
                </a:solidFill>
                <a:latin typeface="Helvetica Neue"/>
                <a:ea typeface="Helvetica Neue"/>
                <a:cs typeface="Helvetica Neue"/>
              </a:defRPr>
            </a:defPPr>
          </a:lstStyle>
          <a:p xmlns:a="http://schemas.openxmlformats.org/drawingml/2006/main">
            <a:pPr algn="ctr">
              <a:defRPr sz="1575">
                <a:solidFill>
                  <a:srgbClr val="596575"/>
                </a:solidFill>
                <a:latin typeface="Helvetica Neue"/>
                <a:ea typeface="Helvetica Neue"/>
                <a:cs typeface="Helvetica Neue"/>
              </a:defRPr>
            </a:pPr>
            <a:r>
              <a:rPr sz="1575">
                <a:solidFill>
                  <a:srgbClr val="596575"/>
                </a:solidFill>
                <a:latin typeface="Helvetica Neue"/>
                <a:ea typeface="Helvetica Neue"/>
                <a:cs typeface="Helvetica Neue"/>
              </a:rPr>
              <a:t>fichiers CSV</a:t>
            </a:r>
          </a:p>
        </p:txBody>
      </p:sp>
      <p:sp>
        <p:nvSpPr>
          <p:cNvPr id="7" name="">
            <a:extLst xmlns:a="http://schemas.openxmlformats.org/drawingml/2006/main">
              <a:ext uri="{FF2B5EF4-FFF2-40B4-BE49-F238E27FC236}">
                <a16:creationId xmlns:a16="http://schemas.microsoft.com/office/drawing/2014/main" id="{8EEB4B7C-8E29-4C25-A099-35D9EA10ADE4}"/>
              </a:ext>
            </a:extLst>
          </p:cNvPr>
          <p:cNvSpPr>
            <a:spLocks xmlns:a="http://schemas.openxmlformats.org/drawingml/2006/main" noGrp="1"/>
          </p:cNvSpPr>
          <p:nvPr/>
        </p:nvSpPr>
        <p:spPr>
          <a:xfrm xmlns:a="http://schemas.openxmlformats.org/drawingml/2006/main">
            <a:off x="4667250" y="1285875"/>
            <a:ext cx="2857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4575" b="1">
                <a:solidFill>
                  <a:srgbClr val="2A78D6"/>
                </a:solidFill>
                <a:latin typeface="Helvetica Neue"/>
                <a:ea typeface="Helvetica Neue"/>
                <a:cs typeface="Helvetica Neue"/>
              </a:defRPr>
            </a:defPPr>
          </a:lstStyle>
          <a:p xmlns:a="http://schemas.openxmlformats.org/drawingml/2006/main">
            <a:pPr algn="ctr">
              <a:defRPr sz="4575" b="1">
                <a:solidFill>
                  <a:srgbClr val="2A78D6"/>
                </a:solidFill>
                <a:latin typeface="Helvetica Neue"/>
                <a:ea typeface="Helvetica Neue"/>
                <a:cs typeface="Helvetica Neue"/>
              </a:defRPr>
            </a:pPr>
            <a:r>
              <a:rPr sz="4575" b="1">
                <a:solidFill>
                  <a:srgbClr val="2A78D6"/>
                </a:solidFill>
                <a:latin typeface="Helvetica Neue"/>
                <a:ea typeface="Helvetica Neue"/>
                <a:cs typeface="Helvetica Neue"/>
              </a:rPr>
              <a:t>20</a:t>
            </a:r>
          </a:p>
        </p:txBody>
      </p:sp>
      <p:sp>
        <p:nvSpPr>
          <p:cNvPr id="8" name="">
            <a:extLst xmlns:a="http://schemas.openxmlformats.org/drawingml/2006/main">
              <a:ext uri="{FF2B5EF4-FFF2-40B4-BE49-F238E27FC236}">
                <a16:creationId xmlns:a16="http://schemas.microsoft.com/office/drawing/2014/main" id="{3561E25A-6B00-4E65-BFF3-8DCC2CB84B91}"/>
              </a:ext>
            </a:extLst>
          </p:cNvPr>
          <p:cNvSpPr>
            <a:spLocks xmlns:a="http://schemas.openxmlformats.org/drawingml/2006/main" noGrp="1"/>
          </p:cNvSpPr>
          <p:nvPr/>
        </p:nvSpPr>
        <p:spPr>
          <a:xfrm xmlns:a="http://schemas.openxmlformats.org/drawingml/2006/main">
            <a:off x="4667250" y="20097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a:solidFill>
                  <a:srgbClr val="596575"/>
                </a:solidFill>
                <a:latin typeface="Helvetica Neue"/>
                <a:ea typeface="Helvetica Neue"/>
                <a:cs typeface="Helvetica Neue"/>
              </a:defRPr>
            </a:defPPr>
          </a:lstStyle>
          <a:p xmlns:a="http://schemas.openxmlformats.org/drawingml/2006/main">
            <a:pPr algn="ctr">
              <a:defRPr sz="1575">
                <a:solidFill>
                  <a:srgbClr val="596575"/>
                </a:solidFill>
                <a:latin typeface="Helvetica Neue"/>
                <a:ea typeface="Helvetica Neue"/>
                <a:cs typeface="Helvetica Neue"/>
              </a:defRPr>
            </a:pPr>
            <a:r>
              <a:rPr sz="1575">
                <a:solidFill>
                  <a:srgbClr val="596575"/>
                </a:solidFill>
                <a:latin typeface="Helvetica Neue"/>
                <a:ea typeface="Helvetica Neue"/>
                <a:cs typeface="Helvetica Neue"/>
              </a:rPr>
              <a:t>indicateurs</a:t>
            </a:r>
          </a:p>
        </p:txBody>
      </p:sp>
      <p:sp>
        <p:nvSpPr>
          <p:cNvPr id="9" name="">
            <a:extLst xmlns:a="http://schemas.openxmlformats.org/drawingml/2006/main">
              <a:ext uri="{FF2B5EF4-FFF2-40B4-BE49-F238E27FC236}">
                <a16:creationId xmlns:a16="http://schemas.microsoft.com/office/drawing/2014/main" id="{29695FAA-DCEA-4314-B518-F8BFA8BAF1D3}"/>
              </a:ext>
            </a:extLst>
          </p:cNvPr>
          <p:cNvSpPr>
            <a:spLocks xmlns:a="http://schemas.openxmlformats.org/drawingml/2006/main" noGrp="1"/>
          </p:cNvSpPr>
          <p:nvPr/>
        </p:nvSpPr>
        <p:spPr>
          <a:xfrm xmlns:a="http://schemas.openxmlformats.org/drawingml/2006/main">
            <a:off x="8382000" y="1285875"/>
            <a:ext cx="2857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4575" b="1">
                <a:solidFill>
                  <a:srgbClr val="2A78D6"/>
                </a:solidFill>
                <a:latin typeface="Helvetica Neue"/>
                <a:ea typeface="Helvetica Neue"/>
                <a:cs typeface="Helvetica Neue"/>
              </a:defRPr>
            </a:defPPr>
          </a:lstStyle>
          <a:p xmlns:a="http://schemas.openxmlformats.org/drawingml/2006/main">
            <a:pPr algn="ctr">
              <a:defRPr sz="4575" b="1">
                <a:solidFill>
                  <a:srgbClr val="2A78D6"/>
                </a:solidFill>
                <a:latin typeface="Helvetica Neue"/>
                <a:ea typeface="Helvetica Neue"/>
                <a:cs typeface="Helvetica Neue"/>
              </a:defRPr>
            </a:pPr>
            <a:r>
              <a:rPr sz="4575" b="1">
                <a:solidFill>
                  <a:srgbClr val="2A78D6"/>
                </a:solidFill>
                <a:latin typeface="Helvetica Neue"/>
                <a:ea typeface="Helvetica Neue"/>
                <a:cs typeface="Helvetica Neue"/>
              </a:rPr>
              <a:t>6</a:t>
            </a:r>
          </a:p>
        </p:txBody>
      </p:sp>
      <p:sp>
        <p:nvSpPr>
          <p:cNvPr id="10" name="">
            <a:extLst xmlns:a="http://schemas.openxmlformats.org/drawingml/2006/main">
              <a:ext uri="{FF2B5EF4-FFF2-40B4-BE49-F238E27FC236}">
                <a16:creationId xmlns:a16="http://schemas.microsoft.com/office/drawing/2014/main" id="{6A4F3AD5-F5D2-4A2A-A309-4FC01135BE03}"/>
              </a:ext>
            </a:extLst>
          </p:cNvPr>
          <p:cNvSpPr>
            <a:spLocks xmlns:a="http://schemas.openxmlformats.org/drawingml/2006/main" noGrp="1"/>
          </p:cNvSpPr>
          <p:nvPr/>
        </p:nvSpPr>
        <p:spPr>
          <a:xfrm xmlns:a="http://schemas.openxmlformats.org/drawingml/2006/main">
            <a:off x="8382000" y="200977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a:solidFill>
                  <a:srgbClr val="596575"/>
                </a:solidFill>
                <a:latin typeface="Helvetica Neue"/>
                <a:ea typeface="Helvetica Neue"/>
                <a:cs typeface="Helvetica Neue"/>
              </a:defRPr>
            </a:defPPr>
          </a:lstStyle>
          <a:p xmlns:a="http://schemas.openxmlformats.org/drawingml/2006/main">
            <a:pPr algn="ctr">
              <a:defRPr sz="1575">
                <a:solidFill>
                  <a:srgbClr val="596575"/>
                </a:solidFill>
                <a:latin typeface="Helvetica Neue"/>
                <a:ea typeface="Helvetica Neue"/>
                <a:cs typeface="Helvetica Neue"/>
              </a:defRPr>
            </a:pPr>
            <a:r>
              <a:rPr sz="1575">
                <a:solidFill>
                  <a:srgbClr val="596575"/>
                </a:solidFill>
                <a:latin typeface="Helvetica Neue"/>
                <a:ea typeface="Helvetica Neue"/>
                <a:cs typeface="Helvetica Neue"/>
              </a:rPr>
              <a:t>axes de pilotage</a:t>
            </a:r>
          </a:p>
        </p:txBody>
      </p:sp>
      <p:sp>
        <p:nvSpPr>
          <p:cNvPr id="11" name="">
            <a:extLst xmlns:a="http://schemas.openxmlformats.org/drawingml/2006/main">
              <a:ext uri="{FF2B5EF4-FFF2-40B4-BE49-F238E27FC236}">
                <a16:creationId xmlns:a16="http://schemas.microsoft.com/office/drawing/2014/main" id="{05072F81-6874-45F4-B080-278415564C96}"/>
              </a:ext>
            </a:extLst>
          </p:cNvPr>
          <p:cNvSpPr>
            <a:spLocks xmlns:a="http://schemas.openxmlformats.org/drawingml/2006/main" noGrp="1"/>
          </p:cNvSpPr>
          <p:nvPr/>
        </p:nvSpPr>
        <p:spPr>
          <a:xfrm xmlns:a="http://schemas.openxmlformats.org/drawingml/2006/main">
            <a:off x="1047750" y="301942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183B66"/>
                </a:solidFill>
                <a:latin typeface="Helvetica Neue"/>
                <a:ea typeface="Helvetica Neue"/>
                <a:cs typeface="Helvetica Neue"/>
              </a:defRPr>
            </a:defPPr>
          </a:lstStyle>
          <a:p xmlns:a="http://schemas.openxmlformats.org/drawingml/2006/main">
            <a:pPr algn="l">
              <a:defRPr sz="2100" b="1">
                <a:solidFill>
                  <a:srgbClr val="183B66"/>
                </a:solidFill>
                <a:latin typeface="Helvetica Neue"/>
                <a:ea typeface="Helvetica Neue"/>
                <a:cs typeface="Helvetica Neue"/>
              </a:defRPr>
            </a:pPr>
            <a:r>
              <a:rPr sz="2100" b="1">
                <a:solidFill>
                  <a:srgbClr val="183B66"/>
                </a:solidFill>
                <a:latin typeface="Helvetica Neue"/>
                <a:ea typeface="Helvetica Neue"/>
                <a:cs typeface="Helvetica Neue"/>
              </a:rPr>
              <a:t>Formation</a:t>
            </a:r>
          </a:p>
        </p:txBody>
      </p:sp>
      <p:sp>
        <p:nvSpPr>
          <p:cNvPr id="12" name="">
            <a:extLst xmlns:a="http://schemas.openxmlformats.org/drawingml/2006/main">
              <a:ext uri="{FF2B5EF4-FFF2-40B4-BE49-F238E27FC236}">
                <a16:creationId xmlns:a16="http://schemas.microsoft.com/office/drawing/2014/main" id="{C362590C-55CC-4AE2-AC5E-02508A39CB28}"/>
              </a:ext>
            </a:extLst>
          </p:cNvPr>
          <p:cNvSpPr>
            <a:spLocks xmlns:a="http://schemas.openxmlformats.org/drawingml/2006/main" noGrp="1"/>
          </p:cNvSpPr>
          <p:nvPr/>
        </p:nvSpPr>
        <p:spPr>
          <a:xfrm xmlns:a="http://schemas.openxmlformats.org/drawingml/2006/main">
            <a:off x="1047750" y="360997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183B66"/>
                </a:solidFill>
                <a:latin typeface="Helvetica Neue"/>
                <a:ea typeface="Helvetica Neue"/>
                <a:cs typeface="Helvetica Neue"/>
              </a:defRPr>
            </a:defPPr>
          </a:lstStyle>
          <a:p xmlns:a="http://schemas.openxmlformats.org/drawingml/2006/main">
            <a:pPr algn="l">
              <a:defRPr sz="2100" b="1">
                <a:solidFill>
                  <a:srgbClr val="183B66"/>
                </a:solidFill>
                <a:latin typeface="Helvetica Neue"/>
                <a:ea typeface="Helvetica Neue"/>
                <a:cs typeface="Helvetica Neue"/>
              </a:defRPr>
            </a:pPr>
            <a:r>
              <a:rPr sz="2100" b="1">
                <a:solidFill>
                  <a:srgbClr val="183B66"/>
                </a:solidFill>
                <a:latin typeface="Helvetica Neue"/>
                <a:ea typeface="Helvetica Neue"/>
                <a:cs typeface="Helvetica Neue"/>
              </a:rPr>
              <a:t>Vie étudiante</a:t>
            </a:r>
          </a:p>
        </p:txBody>
      </p:sp>
      <p:sp>
        <p:nvSpPr>
          <p:cNvPr id="13" name="">
            <a:extLst xmlns:a="http://schemas.openxmlformats.org/drawingml/2006/main">
              <a:ext uri="{FF2B5EF4-FFF2-40B4-BE49-F238E27FC236}">
                <a16:creationId xmlns:a16="http://schemas.microsoft.com/office/drawing/2014/main" id="{47D2D7B7-9B4C-4BE5-BD3C-0447C2D6E3B2}"/>
              </a:ext>
            </a:extLst>
          </p:cNvPr>
          <p:cNvSpPr>
            <a:spLocks xmlns:a="http://schemas.openxmlformats.org/drawingml/2006/main" noGrp="1"/>
          </p:cNvSpPr>
          <p:nvPr/>
        </p:nvSpPr>
        <p:spPr>
          <a:xfrm xmlns:a="http://schemas.openxmlformats.org/drawingml/2006/main">
            <a:off x="1047750" y="420052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183B66"/>
                </a:solidFill>
                <a:latin typeface="Helvetica Neue"/>
                <a:ea typeface="Helvetica Neue"/>
                <a:cs typeface="Helvetica Neue"/>
              </a:defRPr>
            </a:defPPr>
          </a:lstStyle>
          <a:p xmlns:a="http://schemas.openxmlformats.org/drawingml/2006/main">
            <a:pPr algn="l">
              <a:defRPr sz="2100" b="1">
                <a:solidFill>
                  <a:srgbClr val="183B66"/>
                </a:solidFill>
                <a:latin typeface="Helvetica Neue"/>
                <a:ea typeface="Helvetica Neue"/>
                <a:cs typeface="Helvetica Neue"/>
              </a:defRPr>
            </a:pPr>
            <a:r>
              <a:rPr sz="2100" b="1">
                <a:solidFill>
                  <a:srgbClr val="183B66"/>
                </a:solidFill>
                <a:latin typeface="Helvetica Neue"/>
                <a:ea typeface="Helvetica Neue"/>
                <a:cs typeface="Helvetica Neue"/>
              </a:rPr>
              <a:t>Entreprises</a:t>
            </a:r>
          </a:p>
        </p:txBody>
      </p:sp>
      <p:sp>
        <p:nvSpPr>
          <p:cNvPr id="14" name="">
            <a:extLst xmlns:a="http://schemas.openxmlformats.org/drawingml/2006/main">
              <a:ext uri="{FF2B5EF4-FFF2-40B4-BE49-F238E27FC236}">
                <a16:creationId xmlns:a16="http://schemas.microsoft.com/office/drawing/2014/main" id="{4AF3BD70-C11C-4C7B-A57F-99873730CAF6}"/>
              </a:ext>
            </a:extLst>
          </p:cNvPr>
          <p:cNvSpPr>
            <a:spLocks xmlns:a="http://schemas.openxmlformats.org/drawingml/2006/main" noGrp="1"/>
          </p:cNvSpPr>
          <p:nvPr/>
        </p:nvSpPr>
        <p:spPr>
          <a:xfrm xmlns:a="http://schemas.openxmlformats.org/drawingml/2006/main">
            <a:off x="6429375" y="301942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183B66"/>
                </a:solidFill>
                <a:latin typeface="Helvetica Neue"/>
                <a:ea typeface="Helvetica Neue"/>
                <a:cs typeface="Helvetica Neue"/>
              </a:defRPr>
            </a:defPPr>
          </a:lstStyle>
          <a:p xmlns:a="http://schemas.openxmlformats.org/drawingml/2006/main">
            <a:pPr algn="l">
              <a:defRPr sz="2100" b="1">
                <a:solidFill>
                  <a:srgbClr val="183B66"/>
                </a:solidFill>
                <a:latin typeface="Helvetica Neue"/>
                <a:ea typeface="Helvetica Neue"/>
                <a:cs typeface="Helvetica Neue"/>
              </a:defRPr>
            </a:pPr>
            <a:r>
              <a:rPr sz="2100" b="1">
                <a:solidFill>
                  <a:srgbClr val="183B66"/>
                </a:solidFill>
                <a:latin typeface="Helvetica Neue"/>
                <a:ea typeface="Helvetica Neue"/>
                <a:cs typeface="Helvetica Neue"/>
              </a:rPr>
              <a:t>International</a:t>
            </a:r>
          </a:p>
        </p:txBody>
      </p:sp>
      <p:sp>
        <p:nvSpPr>
          <p:cNvPr id="15" name="">
            <a:extLst xmlns:a="http://schemas.openxmlformats.org/drawingml/2006/main">
              <a:ext uri="{FF2B5EF4-FFF2-40B4-BE49-F238E27FC236}">
                <a16:creationId xmlns:a16="http://schemas.microsoft.com/office/drawing/2014/main" id="{1D056549-ED82-4D8F-BFE7-D4BA8DD36BF6}"/>
              </a:ext>
            </a:extLst>
          </p:cNvPr>
          <p:cNvSpPr>
            <a:spLocks xmlns:a="http://schemas.openxmlformats.org/drawingml/2006/main" noGrp="1"/>
          </p:cNvSpPr>
          <p:nvPr/>
        </p:nvSpPr>
        <p:spPr>
          <a:xfrm xmlns:a="http://schemas.openxmlformats.org/drawingml/2006/main">
            <a:off x="6429375" y="360997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183B66"/>
                </a:solidFill>
                <a:latin typeface="Helvetica Neue"/>
                <a:ea typeface="Helvetica Neue"/>
                <a:cs typeface="Helvetica Neue"/>
              </a:defRPr>
            </a:defPPr>
          </a:lstStyle>
          <a:p xmlns:a="http://schemas.openxmlformats.org/drawingml/2006/main">
            <a:pPr algn="l">
              <a:defRPr sz="2100" b="1">
                <a:solidFill>
                  <a:srgbClr val="183B66"/>
                </a:solidFill>
                <a:latin typeface="Helvetica Neue"/>
                <a:ea typeface="Helvetica Neue"/>
                <a:cs typeface="Helvetica Neue"/>
              </a:defRPr>
            </a:pPr>
            <a:r>
              <a:rPr sz="2100" b="1">
                <a:solidFill>
                  <a:srgbClr val="183B66"/>
                </a:solidFill>
                <a:latin typeface="Helvetica Neue"/>
                <a:ea typeface="Helvetica Neue"/>
                <a:cs typeface="Helvetica Neue"/>
              </a:rPr>
              <a:t>Recherche</a:t>
            </a:r>
          </a:p>
        </p:txBody>
      </p:sp>
      <p:sp>
        <p:nvSpPr>
          <p:cNvPr id="16" name="">
            <a:extLst xmlns:a="http://schemas.openxmlformats.org/drawingml/2006/main">
              <a:ext uri="{FF2B5EF4-FFF2-40B4-BE49-F238E27FC236}">
                <a16:creationId xmlns:a16="http://schemas.microsoft.com/office/drawing/2014/main" id="{430343F4-E717-42C9-994A-067813A9F417}"/>
              </a:ext>
            </a:extLst>
          </p:cNvPr>
          <p:cNvSpPr>
            <a:spLocks xmlns:a="http://schemas.openxmlformats.org/drawingml/2006/main" noGrp="1"/>
          </p:cNvSpPr>
          <p:nvPr/>
        </p:nvSpPr>
        <p:spPr>
          <a:xfrm xmlns:a="http://schemas.openxmlformats.org/drawingml/2006/main">
            <a:off x="6429375" y="4200525"/>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183B66"/>
                </a:solidFill>
                <a:latin typeface="Helvetica Neue"/>
                <a:ea typeface="Helvetica Neue"/>
                <a:cs typeface="Helvetica Neue"/>
              </a:defRPr>
            </a:defPPr>
          </a:lstStyle>
          <a:p xmlns:a="http://schemas.openxmlformats.org/drawingml/2006/main">
            <a:pPr algn="l">
              <a:defRPr sz="2100" b="1">
                <a:solidFill>
                  <a:srgbClr val="183B66"/>
                </a:solidFill>
                <a:latin typeface="Helvetica Neue"/>
                <a:ea typeface="Helvetica Neue"/>
                <a:cs typeface="Helvetica Neue"/>
              </a:defRPr>
            </a:pPr>
            <a:r>
              <a:rPr sz="2100" b="1">
                <a:solidFill>
                  <a:srgbClr val="183B66"/>
                </a:solidFill>
                <a:latin typeface="Helvetica Neue"/>
                <a:ea typeface="Helvetica Neue"/>
                <a:cs typeface="Helvetica Neue"/>
              </a:rPr>
              <a:t>Budget</a:t>
            </a:r>
          </a:p>
        </p:txBody>
      </p:sp>
      <p:sp>
        <p:nvSpPr>
          <p:cNvPr id="17" name="">
            <a:extLst xmlns:a="http://schemas.openxmlformats.org/drawingml/2006/main">
              <a:ext uri="{FF2B5EF4-FFF2-40B4-BE49-F238E27FC236}">
                <a16:creationId xmlns:a16="http://schemas.microsoft.com/office/drawing/2014/main" id="{FC4A4D39-C537-491B-9122-DEF2DF9B21E1}"/>
              </a:ext>
            </a:extLst>
          </p:cNvPr>
          <p:cNvSpPr>
            <a:spLocks xmlns:a="http://schemas.openxmlformats.org/drawingml/2006/main" noGrp="1"/>
          </p:cNvSpPr>
          <p:nvPr/>
        </p:nvSpPr>
        <p:spPr>
          <a:xfrm xmlns:a="http://schemas.openxmlformats.org/drawingml/2006/main">
            <a:off x="1047750" y="5334000"/>
            <a:ext cx="1009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a:solidFill>
                  <a:srgbClr val="596575"/>
                </a:solidFill>
                <a:latin typeface="Helvetica Neue"/>
                <a:ea typeface="Helvetica Neue"/>
                <a:cs typeface="Helvetica Neue"/>
              </a:defRPr>
            </a:defPPr>
          </a:lstStyle>
          <a:p xmlns:a="http://schemas.openxmlformats.org/drawingml/2006/main">
            <a:pPr algn="l">
              <a:defRPr sz="1650">
                <a:solidFill>
                  <a:srgbClr val="596575"/>
                </a:solidFill>
                <a:latin typeface="Helvetica Neue"/>
                <a:ea typeface="Helvetica Neue"/>
                <a:cs typeface="Helvetica Neue"/>
              </a:defRPr>
            </a:pPr>
            <a:r>
              <a:rPr sz="1650">
                <a:solidFill>
                  <a:srgbClr val="596575"/>
                </a:solidFill>
                <a:latin typeface="Helvetica Neue"/>
                <a:ea typeface="Helvetica Neue"/>
                <a:cs typeface="Helvetica Neue"/>
              </a:rPr>
              <a:t>Filtres par année et par filière : FISE, FISEA, Master.</a:t>
            </a:r>
          </a:p>
        </p:txBody>
      </p:sp>
    </p:spTree>
    <p:extLst>
      <p:ext uri="{BB962C8B-B14F-4D97-AF65-F5344CB8AC3E}">
        <p14:creationId xmlns:p14="http://schemas.microsoft.com/office/powerpoint/2010/main" val="720557700"/>
      </p:ext>
    </p:extLst>
  </p:cSld>
</p:sld>
</file>

<file path=ppt/slides/slide3.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43B5F04-C6F2-4E74-870E-459E7CC27432}"/>
              </a:ext>
            </a:extLst>
          </p:cNvPr>
          <p:cNvSpPr>
            <a:spLocks xmlns:a="http://schemas.openxmlformats.org/drawingml/2006/main" noGrp="1"/>
          </p:cNvSpPr>
          <p:nvPr/>
        </p:nvSpPr>
        <p:spPr>
          <a:xfrm xmlns:a="http://schemas.openxmlformats.org/drawingml/2006/main">
            <a:off x="685800" y="266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183B66"/>
                </a:solidFill>
                <a:latin typeface="Helvetica Neue"/>
                <a:ea typeface="Helvetica Neue"/>
                <a:cs typeface="Helvetica Neue"/>
              </a:defRPr>
            </a:defPPr>
          </a:lstStyle>
          <a:p xmlns:a="http://schemas.openxmlformats.org/drawingml/2006/main">
            <a:pPr algn="l">
              <a:defRPr sz="2325" b="1">
                <a:solidFill>
                  <a:srgbClr val="183B66"/>
                </a:solidFill>
                <a:latin typeface="Helvetica Neue"/>
                <a:ea typeface="Helvetica Neue"/>
                <a:cs typeface="Helvetica Neue"/>
              </a:defRPr>
            </a:pPr>
            <a:r>
              <a:rPr sz="2325" b="1">
                <a:solidFill>
                  <a:srgbClr val="183B66"/>
                </a:solidFill>
                <a:latin typeface="Helvetica Neue"/>
                <a:ea typeface="Helvetica Neue"/>
                <a:cs typeface="Helvetica Neue"/>
              </a:rPr>
              <a:t>Trois évolutions dans les données de démonstration</a:t>
            </a:r>
          </a:p>
        </p:txBody>
      </p:sp>
      <p:sp>
        <p:nvSpPr>
          <p:cNvPr id="2" name="">
            <a:extLst xmlns:a="http://schemas.openxmlformats.org/drawingml/2006/main">
              <a:ext uri="{FF2B5EF4-FFF2-40B4-BE49-F238E27FC236}">
                <a16:creationId xmlns:a16="http://schemas.microsoft.com/office/drawing/2014/main" id="{922F884C-D25B-4211-B180-F7D98FF0D906}"/>
              </a:ext>
            </a:extLst>
          </p:cNvPr>
          <p:cNvSpPr>
            <a:spLocks xmlns:a="http://schemas.openxmlformats.org/drawingml/2006/main" noGrp="1"/>
          </p:cNvSpPr>
          <p:nvPr/>
        </p:nvSpPr>
        <p:spPr>
          <a:xfrm xmlns:a="http://schemas.openxmlformats.org/drawingml/2006/main">
            <a:off x="685800" y="933450"/>
            <a:ext cx="10820400" cy="28575"/>
          </a:xfrm>
          <a:prstGeom xmlns:a="http://schemas.openxmlformats.org/drawingml/2006/main" prst="rect">
            <a:avLst/>
          </a:prstGeom>
          <a:solidFill xmlns:a="http://schemas.openxmlformats.org/drawingml/2006/main">
            <a:srgbClr val="E8894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5CEB213-4549-454D-80C3-43A23D46A011}"/>
              </a:ext>
            </a:extLst>
          </p:cNvPr>
          <p:cNvSpPr>
            <a:spLocks xmlns:a="http://schemas.openxmlformats.org/drawingml/2006/main" noGrp="1"/>
          </p:cNvSpPr>
          <p:nvPr/>
        </p:nvSpPr>
        <p:spPr>
          <a:xfrm xmlns:a="http://schemas.openxmlformats.org/drawingml/2006/main">
            <a:off x="685800" y="64389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a:solidFill>
                  <a:srgbClr val="596575"/>
                </a:solidFill>
                <a:latin typeface="Helvetica Neue"/>
                <a:ea typeface="Helvetica Neue"/>
                <a:cs typeface="Helvetica Neue"/>
              </a:defRPr>
            </a:defPPr>
          </a:lstStyle>
          <a:p xmlns:a="http://schemas.openxmlformats.org/drawingml/2006/main">
            <a:pPr algn="l">
              <a:defRPr sz="1050">
                <a:solidFill>
                  <a:srgbClr val="596575"/>
                </a:solidFill>
                <a:latin typeface="Helvetica Neue"/>
                <a:ea typeface="Helvetica Neue"/>
                <a:cs typeface="Helvetica Neue"/>
              </a:defRPr>
            </a:pPr>
            <a:r>
              <a:rPr sz="1050">
                <a:solidFill>
                  <a:srgbClr val="596575"/>
                </a:solidFill>
                <a:latin typeface="Helvetica Neue"/>
                <a:ea typeface="Helvetica Neue"/>
                <a:cs typeface="Helvetica Neue"/>
              </a:rPr>
              <a:t>Hackathon ensIIE 2026, projet 3</a:t>
            </a:r>
          </a:p>
        </p:txBody>
      </p:sp>
      <p:sp>
        <p:nvSpPr>
          <p:cNvPr id="4" name="">
            <a:extLst xmlns:a="http://schemas.openxmlformats.org/drawingml/2006/main">
              <a:ext uri="{FF2B5EF4-FFF2-40B4-BE49-F238E27FC236}">
                <a16:creationId xmlns:a16="http://schemas.microsoft.com/office/drawing/2014/main" id="{EE4FAAFE-A8DB-4862-BA7F-65340B2E813F}"/>
              </a:ext>
            </a:extLst>
          </p:cNvPr>
          <p:cNvSpPr>
            <a:spLocks xmlns:a="http://schemas.openxmlformats.org/drawingml/2006/main" noGrp="1"/>
          </p:cNvSpPr>
          <p:nvPr/>
        </p:nvSpPr>
        <p:spPr>
          <a:xfrm xmlns:a="http://schemas.openxmlformats.org/drawingml/2006/main">
            <a:off x="10953750" y="643890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a:solidFill>
                  <a:srgbClr val="596575"/>
                </a:solidFill>
                <a:latin typeface="Helvetica Neue"/>
                <a:ea typeface="Helvetica Neue"/>
                <a:cs typeface="Helvetica Neue"/>
              </a:defRPr>
            </a:defPPr>
          </a:lstStyle>
          <a:p xmlns:a="http://schemas.openxmlformats.org/drawingml/2006/main">
            <a:pPr algn="r">
              <a:defRPr sz="1050">
                <a:solidFill>
                  <a:srgbClr val="596575"/>
                </a:solidFill>
                <a:latin typeface="Helvetica Neue"/>
                <a:ea typeface="Helvetica Neue"/>
                <a:cs typeface="Helvetica Neue"/>
              </a:defRPr>
            </a:pPr>
            <a:r>
              <a:rPr sz="1050">
                <a:solidFill>
                  <a:srgbClr val="596575"/>
                </a:solidFill>
                <a:latin typeface="Helvetica Neue"/>
                <a:ea typeface="Helvetica Neue"/>
                <a:cs typeface="Helvetica Neue"/>
              </a:rPr>
              <a:t>3/6</a:t>
            </a:r>
          </a:p>
        </p:txBody>
      </p:sp>
      <p:graphicFrame>
        <p:nvGraphicFramePr>
          <p:cNvPr id="5" name="Chart">
            <a:extLst xmlns:a="http://schemas.openxmlformats.org/drawingml/2006/main">
              <a:ext uri="{FF2B5EF4-FFF2-40B4-BE49-F238E27FC236}">
                <a16:creationId xmlns:a16="http://schemas.microsoft.com/office/drawing/2014/main" id="{BD4EC3BF-0312-4BE4-9716-51587464E98C}"/>
              </a:ext>
            </a:extLst>
          </p:cNvPr>
          <p:cNvGraphicFramePr/>
          <p:nvPr/>
        </p:nvGraphicFramePr>
        <p:xfrm>
          <a:off xmlns:a="http://schemas.openxmlformats.org/drawingml/2006/main" x="647700" y="1238250"/>
          <a:ext xmlns:a="http://schemas.openxmlformats.org/drawingml/2006/main" cx="6096000" cy="4048125"/>
        </p:xfrm>
        <a:graphic xmlns:a="http://schemas.openxmlformats.org/drawingml/2006/main">
          <a:graphicData uri="http://schemas.openxmlformats.org/drawingml/2006/chart">
            <c:chart xmlns:r="http://schemas.openxmlformats.org/officeDocument/2006/relationships" xmlns:c="http://schemas.openxmlformats.org/drawingml/2006/chart" r:id="R7d4effe7f6c54206"/>
          </a:graphicData>
        </a:graphic>
      </p:graphicFrame>
      <p:sp>
        <p:nvSpPr>
          <p:cNvPr id="6" name="">
            <a:extLst xmlns:a="http://schemas.openxmlformats.org/drawingml/2006/main">
              <a:ext uri="{FF2B5EF4-FFF2-40B4-BE49-F238E27FC236}">
                <a16:creationId xmlns:a16="http://schemas.microsoft.com/office/drawing/2014/main" id="{D592EFA8-FC9C-43F2-8348-3C9D4915CA22}"/>
              </a:ext>
            </a:extLst>
          </p:cNvPr>
          <p:cNvSpPr>
            <a:spLocks xmlns:a="http://schemas.openxmlformats.org/drawingml/2006/main" noGrp="1"/>
          </p:cNvSpPr>
          <p:nvPr/>
        </p:nvSpPr>
        <p:spPr>
          <a:xfrm xmlns:a="http://schemas.openxmlformats.org/drawingml/2006/main">
            <a:off x="895350" y="5314950"/>
            <a:ext cx="561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425">
                <a:solidFill>
                  <a:srgbClr val="596575"/>
                </a:solidFill>
                <a:latin typeface="Helvetica Neue"/>
                <a:ea typeface="Helvetica Neue"/>
                <a:cs typeface="Helvetica Neue"/>
              </a:defRPr>
            </a:defPPr>
          </a:lstStyle>
          <a:p xmlns:a="http://schemas.openxmlformats.org/drawingml/2006/main">
            <a:pPr algn="ctr">
              <a:defRPr sz="1425">
                <a:solidFill>
                  <a:srgbClr val="596575"/>
                </a:solidFill>
                <a:latin typeface="Helvetica Neue"/>
                <a:ea typeface="Helvetica Neue"/>
                <a:cs typeface="Helvetica Neue"/>
              </a:defRPr>
            </a:pPr>
            <a:r>
              <a:rPr sz="1425">
                <a:solidFill>
                  <a:srgbClr val="596575"/>
                </a:solidFill>
                <a:latin typeface="Helvetica Neue"/>
                <a:ea typeface="Helvetica Neue"/>
                <a:cs typeface="Helvetica Neue"/>
              </a:rPr>
              <a:t>560 en 2020, 712 en 2025</a:t>
            </a:r>
          </a:p>
        </p:txBody>
      </p:sp>
      <p:sp>
        <p:nvSpPr>
          <p:cNvPr id="7" name="">
            <a:extLst xmlns:a="http://schemas.openxmlformats.org/drawingml/2006/main">
              <a:ext uri="{FF2B5EF4-FFF2-40B4-BE49-F238E27FC236}">
                <a16:creationId xmlns:a16="http://schemas.microsoft.com/office/drawing/2014/main" id="{A1F3FF7D-85C1-42B6-810A-9A1ADCE9035E}"/>
              </a:ext>
            </a:extLst>
          </p:cNvPr>
          <p:cNvSpPr>
            <a:spLocks xmlns:a="http://schemas.openxmlformats.org/drawingml/2006/main" noGrp="1"/>
          </p:cNvSpPr>
          <p:nvPr/>
        </p:nvSpPr>
        <p:spPr>
          <a:xfrm xmlns:a="http://schemas.openxmlformats.org/drawingml/2006/main">
            <a:off x="895350" y="5619750"/>
            <a:ext cx="561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725" b="1">
                <a:solidFill>
                  <a:srgbClr val="2A78D6"/>
                </a:solidFill>
                <a:latin typeface="Helvetica Neue"/>
                <a:ea typeface="Helvetica Neue"/>
                <a:cs typeface="Helvetica Neue"/>
              </a:defRPr>
            </a:defPPr>
          </a:lstStyle>
          <a:p xmlns:a="http://schemas.openxmlformats.org/drawingml/2006/main">
            <a:pPr algn="ctr">
              <a:defRPr sz="1725" b="1">
                <a:solidFill>
                  <a:srgbClr val="2A78D6"/>
                </a:solidFill>
                <a:latin typeface="Helvetica Neue"/>
                <a:ea typeface="Helvetica Neue"/>
                <a:cs typeface="Helvetica Neue"/>
              </a:defRPr>
            </a:pPr>
            <a:r>
              <a:rPr sz="1725" b="1">
                <a:solidFill>
                  <a:srgbClr val="2A78D6"/>
                </a:solidFill>
                <a:latin typeface="Helvetica Neue"/>
                <a:ea typeface="Helvetica Neue"/>
                <a:cs typeface="Helvetica Neue"/>
              </a:rPr>
              <a:t>Hausse de 27 %</a:t>
            </a:r>
          </a:p>
        </p:txBody>
      </p:sp>
      <p:sp>
        <p:nvSpPr>
          <p:cNvPr id="8" name="">
            <a:extLst xmlns:a="http://schemas.openxmlformats.org/drawingml/2006/main">
              <a:ext uri="{FF2B5EF4-FFF2-40B4-BE49-F238E27FC236}">
                <a16:creationId xmlns:a16="http://schemas.microsoft.com/office/drawing/2014/main" id="{EBEAE236-BC98-471A-B158-F29E18E8F510}"/>
              </a:ext>
            </a:extLst>
          </p:cNvPr>
          <p:cNvSpPr>
            <a:spLocks xmlns:a="http://schemas.openxmlformats.org/drawingml/2006/main" noGrp="1"/>
          </p:cNvSpPr>
          <p:nvPr/>
        </p:nvSpPr>
        <p:spPr>
          <a:xfrm xmlns:a="http://schemas.openxmlformats.org/drawingml/2006/main">
            <a:off x="7334250" y="1581150"/>
            <a:ext cx="4000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125" b="1">
                <a:solidFill>
                  <a:srgbClr val="183B66"/>
                </a:solidFill>
                <a:latin typeface="Helvetica Neue"/>
                <a:ea typeface="Helvetica Neue"/>
                <a:cs typeface="Helvetica Neue"/>
              </a:defRPr>
            </a:defPPr>
          </a:lstStyle>
          <a:p xmlns:a="http://schemas.openxmlformats.org/drawingml/2006/main">
            <a:pPr algn="l">
              <a:defRPr sz="4125" b="1">
                <a:solidFill>
                  <a:srgbClr val="183B66"/>
                </a:solidFill>
                <a:latin typeface="Helvetica Neue"/>
                <a:ea typeface="Helvetica Neue"/>
                <a:cs typeface="Helvetica Neue"/>
              </a:defRPr>
            </a:pPr>
            <a:r>
              <a:rPr sz="4125" b="1">
                <a:solidFill>
                  <a:srgbClr val="183B66"/>
                </a:solidFill>
                <a:latin typeface="Helvetica Neue"/>
                <a:ea typeface="Helvetica Neue"/>
                <a:cs typeface="Helvetica Neue"/>
              </a:rPr>
              <a:t>91,5 %</a:t>
            </a:r>
          </a:p>
        </p:txBody>
      </p:sp>
      <p:sp>
        <p:nvSpPr>
          <p:cNvPr id="9" name="">
            <a:extLst xmlns:a="http://schemas.openxmlformats.org/drawingml/2006/main">
              <a:ext uri="{FF2B5EF4-FFF2-40B4-BE49-F238E27FC236}">
                <a16:creationId xmlns:a16="http://schemas.microsoft.com/office/drawing/2014/main" id="{7FC87333-02A7-4256-9552-0C0BAB2C4215}"/>
              </a:ext>
            </a:extLst>
          </p:cNvPr>
          <p:cNvSpPr>
            <a:spLocks xmlns:a="http://schemas.openxmlformats.org/drawingml/2006/main" noGrp="1"/>
          </p:cNvSpPr>
          <p:nvPr/>
        </p:nvSpPr>
        <p:spPr>
          <a:xfrm xmlns:a="http://schemas.openxmlformats.org/drawingml/2006/main">
            <a:off x="7353300" y="2276475"/>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a:solidFill>
                  <a:srgbClr val="18212B"/>
                </a:solidFill>
                <a:latin typeface="Helvetica Neue"/>
                <a:ea typeface="Helvetica Neue"/>
                <a:cs typeface="Helvetica Neue"/>
              </a:defRPr>
            </a:defPPr>
          </a:lstStyle>
          <a:p xmlns:a="http://schemas.openxmlformats.org/drawingml/2006/main">
            <a:pPr algn="l">
              <a:defRPr sz="1725">
                <a:solidFill>
                  <a:srgbClr val="18212B"/>
                </a:solidFill>
                <a:latin typeface="Helvetica Neue"/>
                <a:ea typeface="Helvetica Neue"/>
                <a:cs typeface="Helvetica Neue"/>
              </a:defRPr>
            </a:pPr>
            <a:r>
              <a:rPr sz="1725">
                <a:solidFill>
                  <a:srgbClr val="18212B"/>
                </a:solidFill>
                <a:latin typeface="Helvetica Neue"/>
                <a:ea typeface="Helvetica Neue"/>
                <a:cs typeface="Helvetica Neue"/>
              </a:rPr>
              <a:t>Taux de réussite en 2025</a:t>
            </a:r>
          </a:p>
        </p:txBody>
      </p:sp>
      <p:sp>
        <p:nvSpPr>
          <p:cNvPr id="10" name="">
            <a:extLst xmlns:a="http://schemas.openxmlformats.org/drawingml/2006/main">
              <a:ext uri="{FF2B5EF4-FFF2-40B4-BE49-F238E27FC236}">
                <a16:creationId xmlns:a16="http://schemas.microsoft.com/office/drawing/2014/main" id="{1D0E5355-C47F-471F-9397-A5963AFA3494}"/>
              </a:ext>
            </a:extLst>
          </p:cNvPr>
          <p:cNvSpPr>
            <a:spLocks xmlns:a="http://schemas.openxmlformats.org/drawingml/2006/main" noGrp="1"/>
          </p:cNvSpPr>
          <p:nvPr/>
        </p:nvSpPr>
        <p:spPr>
          <a:xfrm xmlns:a="http://schemas.openxmlformats.org/drawingml/2006/main">
            <a:off x="7353300" y="2638425"/>
            <a:ext cx="400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a:solidFill>
                  <a:srgbClr val="596575"/>
                </a:solidFill>
                <a:latin typeface="Helvetica Neue"/>
                <a:ea typeface="Helvetica Neue"/>
                <a:cs typeface="Helvetica Neue"/>
              </a:defRPr>
            </a:defPPr>
          </a:lstStyle>
          <a:p xmlns:a="http://schemas.openxmlformats.org/drawingml/2006/main">
            <a:pPr algn="l">
              <a:defRPr sz="1425">
                <a:solidFill>
                  <a:srgbClr val="596575"/>
                </a:solidFill>
                <a:latin typeface="Helvetica Neue"/>
                <a:ea typeface="Helvetica Neue"/>
                <a:cs typeface="Helvetica Neue"/>
              </a:defRPr>
            </a:pPr>
            <a:r>
              <a:rPr sz="1425">
                <a:solidFill>
                  <a:srgbClr val="596575"/>
                </a:solidFill>
                <a:latin typeface="Helvetica Neue"/>
                <a:ea typeface="Helvetica Neue"/>
                <a:cs typeface="Helvetica Neue"/>
              </a:rPr>
              <a:t>Progression de 3,8 points depuis 2020</a:t>
            </a:r>
          </a:p>
        </p:txBody>
      </p:sp>
      <p:sp>
        <p:nvSpPr>
          <p:cNvPr id="11" name="">
            <a:extLst xmlns:a="http://schemas.openxmlformats.org/drawingml/2006/main">
              <a:ext uri="{FF2B5EF4-FFF2-40B4-BE49-F238E27FC236}">
                <a16:creationId xmlns:a16="http://schemas.microsoft.com/office/drawing/2014/main" id="{0AE6B178-B99A-4470-AD64-10B39A5AD6E9}"/>
              </a:ext>
            </a:extLst>
          </p:cNvPr>
          <p:cNvSpPr>
            <a:spLocks xmlns:a="http://schemas.openxmlformats.org/drawingml/2006/main" noGrp="1"/>
          </p:cNvSpPr>
          <p:nvPr/>
        </p:nvSpPr>
        <p:spPr>
          <a:xfrm xmlns:a="http://schemas.openxmlformats.org/drawingml/2006/main">
            <a:off x="7353300" y="3324225"/>
            <a:ext cx="3905250" cy="19050"/>
          </a:xfrm>
          <a:prstGeom xmlns:a="http://schemas.openxmlformats.org/drawingml/2006/main" prst="rect">
            <a:avLst/>
          </a:prstGeom>
          <a:solidFill xmlns:a="http://schemas.openxmlformats.org/drawingml/2006/main">
            <a:srgbClr val="D6DEE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6248738-3750-4D15-B9EB-736B6CC03C72}"/>
              </a:ext>
            </a:extLst>
          </p:cNvPr>
          <p:cNvSpPr>
            <a:spLocks xmlns:a="http://schemas.openxmlformats.org/drawingml/2006/main" noGrp="1"/>
          </p:cNvSpPr>
          <p:nvPr/>
        </p:nvSpPr>
        <p:spPr>
          <a:xfrm xmlns:a="http://schemas.openxmlformats.org/drawingml/2006/main">
            <a:off x="7334250" y="3619500"/>
            <a:ext cx="4191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450" b="1">
                <a:solidFill>
                  <a:srgbClr val="183B66"/>
                </a:solidFill>
                <a:latin typeface="Helvetica Neue"/>
                <a:ea typeface="Helvetica Neue"/>
                <a:cs typeface="Helvetica Neue"/>
              </a:defRPr>
            </a:defPPr>
          </a:lstStyle>
          <a:p xmlns:a="http://schemas.openxmlformats.org/drawingml/2006/main">
            <a:pPr algn="l">
              <a:defRPr sz="3450" b="1">
                <a:solidFill>
                  <a:srgbClr val="183B66"/>
                </a:solidFill>
                <a:latin typeface="Helvetica Neue"/>
                <a:ea typeface="Helvetica Neue"/>
                <a:cs typeface="Helvetica Neue"/>
              </a:defRPr>
            </a:pPr>
            <a:r>
              <a:rPr sz="3450" b="1">
                <a:solidFill>
                  <a:srgbClr val="183B66"/>
                </a:solidFill>
                <a:latin typeface="Helvetica Neue"/>
                <a:ea typeface="Helvetica Neue"/>
                <a:cs typeface="Helvetica Neue"/>
              </a:rPr>
              <a:t>236 750 €</a:t>
            </a:r>
          </a:p>
        </p:txBody>
      </p:sp>
      <p:sp>
        <p:nvSpPr>
          <p:cNvPr id="13" name="">
            <a:extLst xmlns:a="http://schemas.openxmlformats.org/drawingml/2006/main">
              <a:ext uri="{FF2B5EF4-FFF2-40B4-BE49-F238E27FC236}">
                <a16:creationId xmlns:a16="http://schemas.microsoft.com/office/drawing/2014/main" id="{B91D2D3C-C416-4ED3-875E-EBB7FD4F3D51}"/>
              </a:ext>
            </a:extLst>
          </p:cNvPr>
          <p:cNvSpPr>
            <a:spLocks xmlns:a="http://schemas.openxmlformats.org/drawingml/2006/main" noGrp="1"/>
          </p:cNvSpPr>
          <p:nvPr/>
        </p:nvSpPr>
        <p:spPr>
          <a:xfrm xmlns:a="http://schemas.openxmlformats.org/drawingml/2006/main">
            <a:off x="7353300" y="4276725"/>
            <a:ext cx="409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a:solidFill>
                  <a:srgbClr val="18212B"/>
                </a:solidFill>
                <a:latin typeface="Helvetica Neue"/>
                <a:ea typeface="Helvetica Neue"/>
                <a:cs typeface="Helvetica Neue"/>
              </a:defRPr>
            </a:defPPr>
          </a:lstStyle>
          <a:p xmlns:a="http://schemas.openxmlformats.org/drawingml/2006/main">
            <a:pPr algn="l">
              <a:defRPr sz="1650">
                <a:solidFill>
                  <a:srgbClr val="18212B"/>
                </a:solidFill>
                <a:latin typeface="Helvetica Neue"/>
                <a:ea typeface="Helvetica Neue"/>
                <a:cs typeface="Helvetica Neue"/>
              </a:defRPr>
            </a:pPr>
            <a:r>
              <a:rPr sz="1650">
                <a:solidFill>
                  <a:srgbClr val="18212B"/>
                </a:solidFill>
                <a:latin typeface="Helvetica Neue"/>
                <a:ea typeface="Helvetica Neue"/>
                <a:cs typeface="Helvetica Neue"/>
              </a:rPr>
              <a:t>Taxe d’apprentissage en 2025</a:t>
            </a:r>
          </a:p>
        </p:txBody>
      </p:sp>
      <p:sp>
        <p:nvSpPr>
          <p:cNvPr id="14" name="">
            <a:extLst xmlns:a="http://schemas.openxmlformats.org/drawingml/2006/main">
              <a:ext uri="{FF2B5EF4-FFF2-40B4-BE49-F238E27FC236}">
                <a16:creationId xmlns:a16="http://schemas.microsoft.com/office/drawing/2014/main" id="{798667F2-A637-4121-8BDD-A1D14DAAF0C5}"/>
              </a:ext>
            </a:extLst>
          </p:cNvPr>
          <p:cNvSpPr>
            <a:spLocks xmlns:a="http://schemas.openxmlformats.org/drawingml/2006/main" noGrp="1"/>
          </p:cNvSpPr>
          <p:nvPr/>
        </p:nvSpPr>
        <p:spPr>
          <a:xfrm xmlns:a="http://schemas.openxmlformats.org/drawingml/2006/main">
            <a:off x="7353300" y="4638675"/>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a:solidFill>
                  <a:srgbClr val="596575"/>
                </a:solidFill>
                <a:latin typeface="Helvetica Neue"/>
                <a:ea typeface="Helvetica Neue"/>
                <a:cs typeface="Helvetica Neue"/>
              </a:defRPr>
            </a:defPPr>
          </a:lstStyle>
          <a:p xmlns:a="http://schemas.openxmlformats.org/drawingml/2006/main">
            <a:pPr algn="l">
              <a:defRPr sz="1425">
                <a:solidFill>
                  <a:srgbClr val="596575"/>
                </a:solidFill>
                <a:latin typeface="Helvetica Neue"/>
                <a:ea typeface="Helvetica Neue"/>
                <a:cs typeface="Helvetica Neue"/>
              </a:defRPr>
            </a:pPr>
            <a:r>
              <a:rPr sz="1425">
                <a:solidFill>
                  <a:srgbClr val="596575"/>
                </a:solidFill>
                <a:latin typeface="Helvetica Neue"/>
                <a:ea typeface="Helvetica Neue"/>
                <a:cs typeface="Helvetica Neue"/>
              </a:rPr>
              <a:t>Montant multiplié par 4,6 depuis 2020</a:t>
            </a:r>
          </a:p>
        </p:txBody>
      </p:sp>
      <p:sp>
        <p:nvSpPr>
          <p:cNvPr id="15" name="">
            <a:extLst xmlns:a="http://schemas.openxmlformats.org/drawingml/2006/main">
              <a:ext uri="{FF2B5EF4-FFF2-40B4-BE49-F238E27FC236}">
                <a16:creationId xmlns:a16="http://schemas.microsoft.com/office/drawing/2014/main" id="{722E253F-2A20-4D2A-B59C-193BE37E3F3F}"/>
              </a:ext>
            </a:extLst>
          </p:cNvPr>
          <p:cNvSpPr>
            <a:spLocks xmlns:a="http://schemas.openxmlformats.org/drawingml/2006/main" noGrp="1"/>
          </p:cNvSpPr>
          <p:nvPr/>
        </p:nvSpPr>
        <p:spPr>
          <a:xfrm xmlns:a="http://schemas.openxmlformats.org/drawingml/2006/main">
            <a:off x="742950" y="6115050"/>
            <a:ext cx="904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a:solidFill>
                  <a:srgbClr val="596575"/>
                </a:solidFill>
                <a:latin typeface="Helvetica Neue"/>
                <a:ea typeface="Helvetica Neue"/>
                <a:cs typeface="Helvetica Neue"/>
              </a:defRPr>
            </a:defPPr>
          </a:lstStyle>
          <a:p xmlns:a="http://schemas.openxmlformats.org/drawingml/2006/main">
            <a:pPr algn="l">
              <a:defRPr sz="1125">
                <a:solidFill>
                  <a:srgbClr val="596575"/>
                </a:solidFill>
                <a:latin typeface="Helvetica Neue"/>
                <a:ea typeface="Helvetica Neue"/>
                <a:cs typeface="Helvetica Neue"/>
              </a:defRPr>
            </a:pPr>
            <a:r>
              <a:rPr sz="1125">
                <a:solidFill>
                  <a:srgbClr val="596575"/>
                </a:solidFill>
                <a:latin typeface="Helvetica Neue"/>
                <a:ea typeface="Helvetica Neue"/>
                <a:cs typeface="Helvetica Neue"/>
              </a:rPr>
              <a:t>Calculs sur les CSV fournis. Les données sont fictives.</a:t>
            </a:r>
          </a:p>
        </p:txBody>
      </p:sp>
    </p:spTree>
    <p:extLst>
      <p:ext uri="{BB962C8B-B14F-4D97-AF65-F5344CB8AC3E}">
        <p14:creationId xmlns:p14="http://schemas.microsoft.com/office/powerpoint/2010/main" val="1716196836"/>
      </p:ext>
    </p:extLst>
  </p:cSld>
</p:sld>
</file>

<file path=ppt/slides/slide4.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195C7AC-8F89-4FEA-B60D-4CE541273920}"/>
              </a:ext>
            </a:extLst>
          </p:cNvPr>
          <p:cNvSpPr>
            <a:spLocks xmlns:a="http://schemas.openxmlformats.org/drawingml/2006/main" noGrp="1"/>
          </p:cNvSpPr>
          <p:nvPr/>
        </p:nvSpPr>
        <p:spPr>
          <a:xfrm xmlns:a="http://schemas.openxmlformats.org/drawingml/2006/main">
            <a:off x="685800" y="266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183B66"/>
                </a:solidFill>
                <a:latin typeface="Helvetica Neue"/>
                <a:ea typeface="Helvetica Neue"/>
                <a:cs typeface="Helvetica Neue"/>
              </a:defRPr>
            </a:defPPr>
          </a:lstStyle>
          <a:p xmlns:a="http://schemas.openxmlformats.org/drawingml/2006/main">
            <a:pPr algn="l">
              <a:defRPr sz="2325" b="1">
                <a:solidFill>
                  <a:srgbClr val="183B66"/>
                </a:solidFill>
                <a:latin typeface="Helvetica Neue"/>
                <a:ea typeface="Helvetica Neue"/>
                <a:cs typeface="Helvetica Neue"/>
              </a:defRPr>
            </a:pPr>
            <a:r>
              <a:rPr sz="2325" b="1">
                <a:solidFill>
                  <a:srgbClr val="183B66"/>
                </a:solidFill>
                <a:latin typeface="Helvetica Neue"/>
                <a:ea typeface="Helvetica Neue"/>
                <a:cs typeface="Helvetica Neue"/>
              </a:rPr>
              <a:t>Trois indicateurs sous leur seuil en 2025</a:t>
            </a:r>
          </a:p>
        </p:txBody>
      </p:sp>
      <p:sp>
        <p:nvSpPr>
          <p:cNvPr id="2" name="">
            <a:extLst xmlns:a="http://schemas.openxmlformats.org/drawingml/2006/main">
              <a:ext uri="{FF2B5EF4-FFF2-40B4-BE49-F238E27FC236}">
                <a16:creationId xmlns:a16="http://schemas.microsoft.com/office/drawing/2014/main" id="{8FE833BA-46AE-492A-B74B-EF4B9172529C}"/>
              </a:ext>
            </a:extLst>
          </p:cNvPr>
          <p:cNvSpPr>
            <a:spLocks xmlns:a="http://schemas.openxmlformats.org/drawingml/2006/main" noGrp="1"/>
          </p:cNvSpPr>
          <p:nvPr/>
        </p:nvSpPr>
        <p:spPr>
          <a:xfrm xmlns:a="http://schemas.openxmlformats.org/drawingml/2006/main">
            <a:off x="685800" y="933450"/>
            <a:ext cx="10820400" cy="28575"/>
          </a:xfrm>
          <a:prstGeom xmlns:a="http://schemas.openxmlformats.org/drawingml/2006/main" prst="rect">
            <a:avLst/>
          </a:prstGeom>
          <a:solidFill xmlns:a="http://schemas.openxmlformats.org/drawingml/2006/main">
            <a:srgbClr val="E8894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A600B8A-8F81-4B9D-81F6-81933983B9D6}"/>
              </a:ext>
            </a:extLst>
          </p:cNvPr>
          <p:cNvSpPr>
            <a:spLocks xmlns:a="http://schemas.openxmlformats.org/drawingml/2006/main" noGrp="1"/>
          </p:cNvSpPr>
          <p:nvPr/>
        </p:nvSpPr>
        <p:spPr>
          <a:xfrm xmlns:a="http://schemas.openxmlformats.org/drawingml/2006/main">
            <a:off x="685800" y="64389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a:solidFill>
                  <a:srgbClr val="596575"/>
                </a:solidFill>
                <a:latin typeface="Helvetica Neue"/>
                <a:ea typeface="Helvetica Neue"/>
                <a:cs typeface="Helvetica Neue"/>
              </a:defRPr>
            </a:defPPr>
          </a:lstStyle>
          <a:p xmlns:a="http://schemas.openxmlformats.org/drawingml/2006/main">
            <a:pPr algn="l">
              <a:defRPr sz="1050">
                <a:solidFill>
                  <a:srgbClr val="596575"/>
                </a:solidFill>
                <a:latin typeface="Helvetica Neue"/>
                <a:ea typeface="Helvetica Neue"/>
                <a:cs typeface="Helvetica Neue"/>
              </a:defRPr>
            </a:pPr>
            <a:r>
              <a:rPr sz="1050">
                <a:solidFill>
                  <a:srgbClr val="596575"/>
                </a:solidFill>
                <a:latin typeface="Helvetica Neue"/>
                <a:ea typeface="Helvetica Neue"/>
                <a:cs typeface="Helvetica Neue"/>
              </a:rPr>
              <a:t>Hackathon ensIIE 2026, projet 3</a:t>
            </a:r>
          </a:p>
        </p:txBody>
      </p:sp>
      <p:sp>
        <p:nvSpPr>
          <p:cNvPr id="4" name="">
            <a:extLst xmlns:a="http://schemas.openxmlformats.org/drawingml/2006/main">
              <a:ext uri="{FF2B5EF4-FFF2-40B4-BE49-F238E27FC236}">
                <a16:creationId xmlns:a16="http://schemas.microsoft.com/office/drawing/2014/main" id="{69246101-3888-4C67-8FB2-4FBA4CA3EA34}"/>
              </a:ext>
            </a:extLst>
          </p:cNvPr>
          <p:cNvSpPr>
            <a:spLocks xmlns:a="http://schemas.openxmlformats.org/drawingml/2006/main" noGrp="1"/>
          </p:cNvSpPr>
          <p:nvPr/>
        </p:nvSpPr>
        <p:spPr>
          <a:xfrm xmlns:a="http://schemas.openxmlformats.org/drawingml/2006/main">
            <a:off x="10953750" y="643890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a:solidFill>
                  <a:srgbClr val="596575"/>
                </a:solidFill>
                <a:latin typeface="Helvetica Neue"/>
                <a:ea typeface="Helvetica Neue"/>
                <a:cs typeface="Helvetica Neue"/>
              </a:defRPr>
            </a:defPPr>
          </a:lstStyle>
          <a:p xmlns:a="http://schemas.openxmlformats.org/drawingml/2006/main">
            <a:pPr algn="r">
              <a:defRPr sz="1050">
                <a:solidFill>
                  <a:srgbClr val="596575"/>
                </a:solidFill>
                <a:latin typeface="Helvetica Neue"/>
                <a:ea typeface="Helvetica Neue"/>
                <a:cs typeface="Helvetica Neue"/>
              </a:defRPr>
            </a:pPr>
            <a:r>
              <a:rPr sz="1050">
                <a:solidFill>
                  <a:srgbClr val="596575"/>
                </a:solidFill>
                <a:latin typeface="Helvetica Neue"/>
                <a:ea typeface="Helvetica Neue"/>
                <a:cs typeface="Helvetica Neue"/>
              </a:rPr>
              <a:t>4/6</a:t>
            </a:r>
          </a:p>
        </p:txBody>
      </p:sp>
      <p:sp>
        <p:nvSpPr>
          <p:cNvPr id="5" name="">
            <a:extLst xmlns:a="http://schemas.openxmlformats.org/drawingml/2006/main">
              <a:ext uri="{FF2B5EF4-FFF2-40B4-BE49-F238E27FC236}">
                <a16:creationId xmlns:a16="http://schemas.microsoft.com/office/drawing/2014/main" id="{FB6C62AD-F459-4126-93E3-E4D164B722EB}"/>
              </a:ext>
            </a:extLst>
          </p:cNvPr>
          <p:cNvSpPr>
            <a:spLocks xmlns:a="http://schemas.openxmlformats.org/drawingml/2006/main" noGrp="1"/>
          </p:cNvSpPr>
          <p:nvPr/>
        </p:nvSpPr>
        <p:spPr>
          <a:xfrm xmlns:a="http://schemas.openxmlformats.org/drawingml/2006/main">
            <a:off x="762000" y="1219200"/>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a:solidFill>
                  <a:srgbClr val="18212B"/>
                </a:solidFill>
                <a:latin typeface="Helvetica Neue"/>
                <a:ea typeface="Helvetica Neue"/>
                <a:cs typeface="Helvetica Neue"/>
              </a:defRPr>
            </a:defPPr>
          </a:lstStyle>
          <a:p xmlns:a="http://schemas.openxmlformats.org/drawingml/2006/main">
            <a:pPr algn="l">
              <a:defRPr sz="1800">
                <a:solidFill>
                  <a:srgbClr val="18212B"/>
                </a:solidFill>
                <a:latin typeface="Helvetica Neue"/>
                <a:ea typeface="Helvetica Neue"/>
                <a:cs typeface="Helvetica Neue"/>
              </a:defRPr>
            </a:pPr>
            <a:r>
              <a:rPr sz="1800">
                <a:solidFill>
                  <a:srgbClr val="18212B"/>
                </a:solidFill>
                <a:latin typeface="Helvetica Neue"/>
                <a:ea typeface="Helvetica Neue"/>
                <a:cs typeface="Helvetica Neue"/>
              </a:rPr>
              <a:t>Les seuils rendent visibles les valeurs à examiner.</a:t>
            </a:r>
          </a:p>
        </p:txBody>
      </p:sp>
      <p:graphicFrame>
        <p:nvGraphicFramePr>
          <p:cNvPr id="6" name="">
            <a:extLst xmlns:a="http://schemas.openxmlformats.org/drawingml/2006/main">
              <a:ext uri="{FF2B5EF4-FFF2-40B4-BE49-F238E27FC236}">
                <a16:creationId xmlns:a16="http://schemas.microsoft.com/office/drawing/2014/main" id="{0D11A683-C587-466E-A26C-95C3953FC660}"/>
              </a:ext>
            </a:extLst>
          </p:cNvPr>
          <p:cNvGraphicFramePr/>
          <p:nvPr/>
        </p:nvGraphicFramePr>
        <p:xfrm>
          <a:off xmlns:a="http://schemas.openxmlformats.org/drawingml/2006/main" x="723900" y="1838325"/>
          <a:ext xmlns:a="http://schemas.openxmlformats.org/drawingml/2006/main" cx="10744200" cy="2809875"/>
        </p:xfrm>
        <a:graphic xmlns:a="http://schemas.openxmlformats.org/drawingml/2006/main">
          <a:graphicData uri="http://schemas.openxmlformats.org/drawingml/2006/table">
            <a:tbl>
              <a:tblPr/>
              <a:tblGrid>
                <a:gridCol w="5429250"/>
                <a:gridCol w="2095500"/>
                <a:gridCol w="3219450"/>
              </a:tblGrid>
              <a:tr h="702469">
                <a:tc>
                  <a:txBody>
                    <a:bodyPr wrap="square" lIns="171450" tIns="95250" rIns="133350" bIns="95250">
                      <a:normAutofit/>
                    </a:bodyPr>
                    <a:lstStyle/>
                    <a:p>
                      <a:pPr algn="l"/>
                      <a:r>
                        <a:rPr sz="1425" b="1">
                          <a:solidFill>
                            <a:srgbClr val="FFFFFF"/>
                          </a:solidFill>
                          <a:latin typeface="Helvetica Neue"/>
                          <a:ea typeface="Helvetica Neue"/>
                          <a:cs typeface="Helvetica Neue"/>
                        </a:rPr>
                        <a:t>Indicateur</a:t>
                      </a:r>
                    </a:p>
                  </a:txBody>
                  <a:tcPr marL="91440" marR="91440" marT="45720" marB="45720" anchor="ctr">
                    <a:lnL w="9525">
                      <a:solidFill>
                        <a:srgbClr val="D6DEE8"/>
                      </a:solidFill>
                      <a:prstDash val="solid"/>
                    </a:lnL>
                    <a:lnR w="9525">
                      <a:solidFill>
                        <a:srgbClr val="D6DEE8"/>
                      </a:solidFill>
                      <a:prstDash val="solid"/>
                    </a:lnR>
                    <a:lnT w="9525">
                      <a:solidFill>
                        <a:srgbClr val="D6DEE8"/>
                      </a:solidFill>
                      <a:prstDash val="solid"/>
                    </a:lnT>
                    <a:lnB w="9525">
                      <a:solidFill>
                        <a:srgbClr val="D6DEE8"/>
                      </a:solidFill>
                      <a:prstDash val="solid"/>
                    </a:lnB>
                    <a:solidFill>
                      <a:srgbClr val="183B66"/>
                    </a:solidFill>
                  </a:tcPr>
                </a:tc>
                <a:tc>
                  <a:txBody>
                    <a:bodyPr wrap="square" lIns="171450" tIns="95250" rIns="133350" bIns="95250">
                      <a:normAutofit/>
                    </a:bodyPr>
                    <a:lstStyle/>
                    <a:p>
                      <a:pPr algn="ctr"/>
                      <a:r>
                        <a:rPr sz="1425" b="1">
                          <a:solidFill>
                            <a:srgbClr val="FFFFFF"/>
                          </a:solidFill>
                          <a:latin typeface="Helvetica Neue"/>
                          <a:ea typeface="Helvetica Neue"/>
                          <a:cs typeface="Helvetica Neue"/>
                        </a:rPr>
                        <a:t>2025</a:t>
                      </a:r>
                    </a:p>
                  </a:txBody>
                  <a:tcPr marL="91440" marR="91440" marT="45720" marB="45720" anchor="ctr">
                    <a:lnR w="9525">
                      <a:solidFill>
                        <a:srgbClr val="D6DEE8"/>
                      </a:solidFill>
                      <a:prstDash val="solid"/>
                    </a:lnR>
                    <a:lnT w="9525">
                      <a:solidFill>
                        <a:srgbClr val="D6DEE8"/>
                      </a:solidFill>
                      <a:prstDash val="solid"/>
                    </a:lnT>
                    <a:lnB w="9525">
                      <a:solidFill>
                        <a:srgbClr val="D6DEE8"/>
                      </a:solidFill>
                      <a:prstDash val="solid"/>
                    </a:lnB>
                    <a:solidFill>
                      <a:srgbClr val="183B66"/>
                    </a:solidFill>
                  </a:tcPr>
                </a:tc>
                <a:tc>
                  <a:txBody>
                    <a:bodyPr wrap="square" lIns="171450" tIns="95250" rIns="133350" bIns="95250">
                      <a:normAutofit/>
                    </a:bodyPr>
                    <a:lstStyle/>
                    <a:p>
                      <a:pPr algn="l"/>
                      <a:r>
                        <a:rPr sz="1425" b="1">
                          <a:solidFill>
                            <a:srgbClr val="FFFFFF"/>
                          </a:solidFill>
                          <a:latin typeface="Helvetica Neue"/>
                          <a:ea typeface="Helvetica Neue"/>
                          <a:cs typeface="Helvetica Neue"/>
                        </a:rPr>
                        <a:t>Seuil</a:t>
                      </a:r>
                    </a:p>
                  </a:txBody>
                  <a:tcPr marL="91440" marR="91440" marT="45720" marB="45720" anchor="ctr">
                    <a:lnR w="9525">
                      <a:solidFill>
                        <a:srgbClr val="D6DEE8"/>
                      </a:solidFill>
                      <a:prstDash val="solid"/>
                    </a:lnR>
                    <a:lnT w="9525">
                      <a:solidFill>
                        <a:srgbClr val="D6DEE8"/>
                      </a:solidFill>
                      <a:prstDash val="solid"/>
                    </a:lnT>
                    <a:lnB w="9525">
                      <a:solidFill>
                        <a:srgbClr val="D6DEE8"/>
                      </a:solidFill>
                      <a:prstDash val="solid"/>
                    </a:lnB>
                    <a:solidFill>
                      <a:srgbClr val="183B66"/>
                    </a:solidFill>
                  </a:tcPr>
                </a:tc>
              </a:tr>
              <a:tr h="702469">
                <a:tc>
                  <a:txBody>
                    <a:bodyPr wrap="square" lIns="171450" tIns="95250" rIns="133350" bIns="95250">
                      <a:normAutofit/>
                    </a:bodyPr>
                    <a:lstStyle/>
                    <a:p>
                      <a:pPr algn="l"/>
                      <a:r>
                        <a:rPr sz="1650" b="0">
                          <a:solidFill>
                            <a:srgbClr val="18212B"/>
                          </a:solidFill>
                          <a:latin typeface="Helvetica Neue"/>
                          <a:ea typeface="Helvetica Neue"/>
                          <a:cs typeface="Helvetica Neue"/>
                        </a:rPr>
                        <a:t>Part de femmes</a:t>
                      </a:r>
                    </a:p>
                  </a:txBody>
                  <a:tcPr marL="91440" marR="91440" marT="45720" marB="45720" anchor="ctr">
                    <a:lnL w="9525">
                      <a:solidFill>
                        <a:srgbClr val="D6DEE8"/>
                      </a:solidFill>
                      <a:prstDash val="solid"/>
                    </a:lnL>
                    <a:lnR w="9525">
                      <a:solidFill>
                        <a:srgbClr val="D6DEE8"/>
                      </a:solidFill>
                      <a:prstDash val="solid"/>
                    </a:lnR>
                    <a:lnB w="9525">
                      <a:solidFill>
                        <a:srgbClr val="D6DEE8"/>
                      </a:solidFill>
                      <a:prstDash val="solid"/>
                    </a:lnB>
                    <a:solidFill>
                      <a:srgbClr val="F0F3F6"/>
                    </a:solidFill>
                  </a:tcPr>
                </a:tc>
                <a:tc>
                  <a:txBody>
                    <a:bodyPr wrap="square" lIns="171450" tIns="95250" rIns="133350" bIns="95250">
                      <a:normAutofit/>
                    </a:bodyPr>
                    <a:lstStyle/>
                    <a:p>
                      <a:pPr algn="ctr"/>
                      <a:r>
                        <a:rPr sz="1650" b="1">
                          <a:solidFill>
                            <a:srgbClr val="B02A2A"/>
                          </a:solidFill>
                          <a:latin typeface="Helvetica Neue"/>
                          <a:ea typeface="Helvetica Neue"/>
                          <a:cs typeface="Helvetica Neue"/>
                        </a:rPr>
                        <a:t>23,2 %</a:t>
                      </a:r>
                    </a:p>
                  </a:txBody>
                  <a:tcPr marL="91440" marR="91440" marT="45720" marB="45720" anchor="ctr">
                    <a:lnR w="9525">
                      <a:solidFill>
                        <a:srgbClr val="D6DEE8"/>
                      </a:solidFill>
                      <a:prstDash val="solid"/>
                    </a:lnR>
                    <a:lnB w="9525">
                      <a:solidFill>
                        <a:srgbClr val="D6DEE8"/>
                      </a:solidFill>
                      <a:prstDash val="solid"/>
                    </a:lnB>
                    <a:solidFill>
                      <a:srgbClr val="F0F3F6"/>
                    </a:solidFill>
                  </a:tcPr>
                </a:tc>
                <a:tc>
                  <a:txBody>
                    <a:bodyPr wrap="square" lIns="171450" tIns="95250" rIns="133350" bIns="95250">
                      <a:normAutofit/>
                    </a:bodyPr>
                    <a:lstStyle/>
                    <a:p>
                      <a:pPr algn="l"/>
                      <a:r>
                        <a:rPr sz="1650" b="0">
                          <a:solidFill>
                            <a:srgbClr val="18212B"/>
                          </a:solidFill>
                          <a:latin typeface="Helvetica Neue"/>
                          <a:ea typeface="Helvetica Neue"/>
                          <a:cs typeface="Helvetica Neue"/>
                        </a:rPr>
                        <a:t>au moins 25 %</a:t>
                      </a:r>
                    </a:p>
                  </a:txBody>
                  <a:tcPr marL="91440" marR="91440" marT="45720" marB="45720" anchor="ctr">
                    <a:lnR w="9525">
                      <a:solidFill>
                        <a:srgbClr val="D6DEE8"/>
                      </a:solidFill>
                      <a:prstDash val="solid"/>
                    </a:lnR>
                    <a:lnB w="9525">
                      <a:solidFill>
                        <a:srgbClr val="D6DEE8"/>
                      </a:solidFill>
                      <a:prstDash val="solid"/>
                    </a:lnB>
                    <a:solidFill>
                      <a:srgbClr val="F0F3F6"/>
                    </a:solidFill>
                  </a:tcPr>
                </a:tc>
              </a:tr>
              <a:tr h="702469">
                <a:tc>
                  <a:txBody>
                    <a:bodyPr wrap="square" lIns="171450" tIns="95250" rIns="133350" bIns="95250">
                      <a:normAutofit/>
                    </a:bodyPr>
                    <a:lstStyle/>
                    <a:p>
                      <a:pPr algn="l"/>
                      <a:r>
                        <a:rPr sz="1650" b="0">
                          <a:solidFill>
                            <a:srgbClr val="18212B"/>
                          </a:solidFill>
                          <a:latin typeface="Helvetica Neue"/>
                          <a:ea typeface="Helvetica Neue"/>
                          <a:cs typeface="Helvetica Neue"/>
                        </a:rPr>
                        <a:t>Satisfaction des élèves</a:t>
                      </a:r>
                    </a:p>
                  </a:txBody>
                  <a:tcPr marL="91440" marR="91440" marT="45720" marB="45720" anchor="ctr">
                    <a:lnL w="9525">
                      <a:solidFill>
                        <a:srgbClr val="D6DEE8"/>
                      </a:solidFill>
                      <a:prstDash val="solid"/>
                    </a:lnL>
                    <a:lnR w="9525">
                      <a:solidFill>
                        <a:srgbClr val="D6DEE8"/>
                      </a:solidFill>
                      <a:prstDash val="solid"/>
                    </a:lnR>
                    <a:lnB w="9525">
                      <a:solidFill>
                        <a:srgbClr val="D6DEE8"/>
                      </a:solidFill>
                      <a:prstDash val="solid"/>
                    </a:lnB>
                    <a:solidFill>
                      <a:srgbClr val="FFFFFF"/>
                    </a:solidFill>
                  </a:tcPr>
                </a:tc>
                <a:tc>
                  <a:txBody>
                    <a:bodyPr wrap="square" lIns="171450" tIns="95250" rIns="133350" bIns="95250">
                      <a:normAutofit/>
                    </a:bodyPr>
                    <a:lstStyle/>
                    <a:p>
                      <a:pPr algn="ctr"/>
                      <a:r>
                        <a:rPr sz="1650" b="1">
                          <a:solidFill>
                            <a:srgbClr val="B02A2A"/>
                          </a:solidFill>
                          <a:latin typeface="Helvetica Neue"/>
                          <a:ea typeface="Helvetica Neue"/>
                          <a:cs typeface="Helvetica Neue"/>
                        </a:rPr>
                        <a:t>3,6 / 5</a:t>
                      </a:r>
                    </a:p>
                  </a:txBody>
                  <a:tcPr marL="91440" marR="91440" marT="45720" marB="45720" anchor="ctr">
                    <a:lnR w="9525">
                      <a:solidFill>
                        <a:srgbClr val="D6DEE8"/>
                      </a:solidFill>
                      <a:prstDash val="solid"/>
                    </a:lnR>
                    <a:lnB w="9525">
                      <a:solidFill>
                        <a:srgbClr val="D6DEE8"/>
                      </a:solidFill>
                      <a:prstDash val="solid"/>
                    </a:lnB>
                    <a:solidFill>
                      <a:srgbClr val="FFFFFF"/>
                    </a:solidFill>
                  </a:tcPr>
                </a:tc>
                <a:tc>
                  <a:txBody>
                    <a:bodyPr wrap="square" lIns="171450" tIns="95250" rIns="133350" bIns="95250">
                      <a:normAutofit/>
                    </a:bodyPr>
                    <a:lstStyle/>
                    <a:p>
                      <a:pPr algn="l"/>
                      <a:r>
                        <a:rPr sz="1650" b="0">
                          <a:solidFill>
                            <a:srgbClr val="18212B"/>
                          </a:solidFill>
                          <a:latin typeface="Helvetica Neue"/>
                          <a:ea typeface="Helvetica Neue"/>
                          <a:cs typeface="Helvetica Neue"/>
                        </a:rPr>
                        <a:t>au moins 3,7 / 5</a:t>
                      </a:r>
                    </a:p>
                  </a:txBody>
                  <a:tcPr marL="91440" marR="91440" marT="45720" marB="45720" anchor="ctr">
                    <a:lnR w="9525">
                      <a:solidFill>
                        <a:srgbClr val="D6DEE8"/>
                      </a:solidFill>
                      <a:prstDash val="solid"/>
                    </a:lnR>
                    <a:lnB w="9525">
                      <a:solidFill>
                        <a:srgbClr val="D6DEE8"/>
                      </a:solidFill>
                      <a:prstDash val="solid"/>
                    </a:lnB>
                    <a:solidFill>
                      <a:srgbClr val="FFFFFF"/>
                    </a:solidFill>
                  </a:tcPr>
                </a:tc>
              </a:tr>
              <a:tr h="702469">
                <a:tc>
                  <a:txBody>
                    <a:bodyPr wrap="square" lIns="171450" tIns="95250" rIns="133350" bIns="95250">
                      <a:normAutofit/>
                    </a:bodyPr>
                    <a:lstStyle/>
                    <a:p>
                      <a:pPr algn="l"/>
                      <a:r>
                        <a:rPr sz="1650" b="0">
                          <a:solidFill>
                            <a:srgbClr val="18212B"/>
                          </a:solidFill>
                          <a:latin typeface="Helvetica Neue"/>
                          <a:ea typeface="Helvetica Neue"/>
                          <a:cs typeface="Helvetica Neue"/>
                        </a:rPr>
                        <a:t>Mobilités sortantes pour 100 élèves</a:t>
                      </a:r>
                    </a:p>
                  </a:txBody>
                  <a:tcPr marL="91440" marR="91440" marT="45720" marB="45720" anchor="ctr">
                    <a:lnL w="9525">
                      <a:solidFill>
                        <a:srgbClr val="D6DEE8"/>
                      </a:solidFill>
                      <a:prstDash val="solid"/>
                    </a:lnL>
                    <a:lnR w="9525">
                      <a:solidFill>
                        <a:srgbClr val="D6DEE8"/>
                      </a:solidFill>
                      <a:prstDash val="solid"/>
                    </a:lnR>
                    <a:lnB w="9525">
                      <a:solidFill>
                        <a:srgbClr val="D6DEE8"/>
                      </a:solidFill>
                      <a:prstDash val="solid"/>
                    </a:lnB>
                    <a:solidFill>
                      <a:srgbClr val="F0F3F6"/>
                    </a:solidFill>
                  </a:tcPr>
                </a:tc>
                <a:tc>
                  <a:txBody>
                    <a:bodyPr wrap="square" lIns="171450" tIns="95250" rIns="133350" bIns="95250">
                      <a:normAutofit/>
                    </a:bodyPr>
                    <a:lstStyle/>
                    <a:p>
                      <a:pPr algn="ctr"/>
                      <a:r>
                        <a:rPr sz="1650" b="1">
                          <a:solidFill>
                            <a:srgbClr val="B02A2A"/>
                          </a:solidFill>
                          <a:latin typeface="Helvetica Neue"/>
                          <a:ea typeface="Helvetica Neue"/>
                          <a:cs typeface="Helvetica Neue"/>
                        </a:rPr>
                        <a:t>8,85</a:t>
                      </a:r>
                    </a:p>
                  </a:txBody>
                  <a:tcPr marL="91440" marR="91440" marT="45720" marB="45720" anchor="ctr">
                    <a:lnR w="9525">
                      <a:solidFill>
                        <a:srgbClr val="D6DEE8"/>
                      </a:solidFill>
                      <a:prstDash val="solid"/>
                    </a:lnR>
                    <a:lnB w="9525">
                      <a:solidFill>
                        <a:srgbClr val="D6DEE8"/>
                      </a:solidFill>
                      <a:prstDash val="solid"/>
                    </a:lnB>
                    <a:solidFill>
                      <a:srgbClr val="F0F3F6"/>
                    </a:solidFill>
                  </a:tcPr>
                </a:tc>
                <a:tc>
                  <a:txBody>
                    <a:bodyPr wrap="square" lIns="171450" tIns="95250" rIns="133350" bIns="95250">
                      <a:normAutofit/>
                    </a:bodyPr>
                    <a:lstStyle/>
                    <a:p>
                      <a:pPr algn="l"/>
                      <a:r>
                        <a:rPr sz="1650" b="0">
                          <a:solidFill>
                            <a:srgbClr val="18212B"/>
                          </a:solidFill>
                          <a:latin typeface="Helvetica Neue"/>
                          <a:ea typeface="Helvetica Neue"/>
                          <a:cs typeface="Helvetica Neue"/>
                        </a:rPr>
                        <a:t>au moins 10</a:t>
                      </a:r>
                    </a:p>
                  </a:txBody>
                  <a:tcPr marL="91440" marR="91440" marT="45720" marB="45720" anchor="ctr">
                    <a:lnR w="9525">
                      <a:solidFill>
                        <a:srgbClr val="D6DEE8"/>
                      </a:solidFill>
                      <a:prstDash val="solid"/>
                    </a:lnR>
                    <a:lnB w="9525">
                      <a:solidFill>
                        <a:srgbClr val="D6DEE8"/>
                      </a:solidFill>
                      <a:prstDash val="solid"/>
                    </a:lnB>
                    <a:solidFill>
                      <a:srgbClr val="F0F3F6"/>
                    </a:solidFill>
                  </a:tcPr>
                </a:tc>
              </a:tr>
            </a:tbl>
          </a:graphicData>
        </a:graphic>
      </p:graphicFrame>
      <p:sp>
        <p:nvSpPr>
          <p:cNvPr id="7" name="">
            <a:extLst xmlns:a="http://schemas.openxmlformats.org/drawingml/2006/main">
              <a:ext uri="{FF2B5EF4-FFF2-40B4-BE49-F238E27FC236}">
                <a16:creationId xmlns:a16="http://schemas.microsoft.com/office/drawing/2014/main" id="{D2029285-0677-47B8-AA45-4E3399826A92}"/>
              </a:ext>
            </a:extLst>
          </p:cNvPr>
          <p:cNvSpPr>
            <a:spLocks xmlns:a="http://schemas.openxmlformats.org/drawingml/2006/main" noGrp="1"/>
          </p:cNvSpPr>
          <p:nvPr/>
        </p:nvSpPr>
        <p:spPr>
          <a:xfrm xmlns:a="http://schemas.openxmlformats.org/drawingml/2006/main">
            <a:off x="762000" y="4981575"/>
            <a:ext cx="1047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00" b="1">
                <a:solidFill>
                  <a:srgbClr val="183B66"/>
                </a:solidFill>
                <a:latin typeface="Helvetica Neue"/>
                <a:ea typeface="Helvetica Neue"/>
                <a:cs typeface="Helvetica Neue"/>
              </a:defRPr>
            </a:defPPr>
          </a:lstStyle>
          <a:p xmlns:a="http://schemas.openxmlformats.org/drawingml/2006/main">
            <a:pPr algn="l">
              <a:defRPr sz="1800" b="1">
                <a:solidFill>
                  <a:srgbClr val="183B66"/>
                </a:solidFill>
                <a:latin typeface="Helvetica Neue"/>
                <a:ea typeface="Helvetica Neue"/>
                <a:cs typeface="Helvetica Neue"/>
              </a:defRPr>
            </a:pPr>
            <a:r>
              <a:rPr sz="1800" b="1">
                <a:solidFill>
                  <a:srgbClr val="183B66"/>
                </a:solidFill>
                <a:latin typeface="Helvetica Neue"/>
                <a:ea typeface="Helvetica Neue"/>
                <a:cs typeface="Helvetica Neue"/>
              </a:rPr>
              <a:t>Une alerte ouvre la tendance et le seuil de référence.</a:t>
            </a:r>
          </a:p>
        </p:txBody>
      </p:sp>
      <p:sp>
        <p:nvSpPr>
          <p:cNvPr id="8" name="">
            <a:extLst xmlns:a="http://schemas.openxmlformats.org/drawingml/2006/main">
              <a:ext uri="{FF2B5EF4-FFF2-40B4-BE49-F238E27FC236}">
                <a16:creationId xmlns:a16="http://schemas.microsoft.com/office/drawing/2014/main" id="{2B8FFA56-70B8-46AF-AAEC-58329768F72F}"/>
              </a:ext>
            </a:extLst>
          </p:cNvPr>
          <p:cNvSpPr>
            <a:spLocks xmlns:a="http://schemas.openxmlformats.org/drawingml/2006/main" noGrp="1"/>
          </p:cNvSpPr>
          <p:nvPr/>
        </p:nvSpPr>
        <p:spPr>
          <a:xfrm xmlns:a="http://schemas.openxmlformats.org/drawingml/2006/main">
            <a:off x="762000" y="538162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a:solidFill>
                  <a:srgbClr val="596575"/>
                </a:solidFill>
                <a:latin typeface="Helvetica Neue"/>
                <a:ea typeface="Helvetica Neue"/>
                <a:cs typeface="Helvetica Neue"/>
              </a:defRPr>
            </a:defPPr>
          </a:lstStyle>
          <a:p xmlns:a="http://schemas.openxmlformats.org/drawingml/2006/main">
            <a:pPr algn="l">
              <a:defRPr sz="1350">
                <a:solidFill>
                  <a:srgbClr val="596575"/>
                </a:solidFill>
                <a:latin typeface="Helvetica Neue"/>
                <a:ea typeface="Helvetica Neue"/>
                <a:cs typeface="Helvetica Neue"/>
              </a:defRPr>
            </a:pPr>
            <a:r>
              <a:rPr sz="1350">
                <a:solidFill>
                  <a:srgbClr val="596575"/>
                </a:solidFill>
                <a:latin typeface="Helvetica Neue"/>
                <a:ea typeface="Helvetica Neue"/>
                <a:cs typeface="Helvetica Neue"/>
              </a:rPr>
              <a:t>Valeurs et seuils présentés à titre de démonstration.</a:t>
            </a:r>
          </a:p>
        </p:txBody>
      </p:sp>
    </p:spTree>
    <p:extLst>
      <p:ext uri="{BB962C8B-B14F-4D97-AF65-F5344CB8AC3E}">
        <p14:creationId xmlns:p14="http://schemas.microsoft.com/office/powerpoint/2010/main" val="1304885506"/>
      </p:ext>
    </p:extLst>
  </p:cSld>
</p:sld>
</file>

<file path=ppt/slides/slide5.xml><?xml version="1.0" encoding="utf-8"?>
<p:sld xmlns:p="http://schemas.openxmlformats.org/presentationml/2006/main">
  <p:cSld>
    <p:bg>
      <p:bgPr>
        <a:solidFill xmlns:a="http://schemas.openxmlformats.org/drawingml/2006/main">
          <a:srgbClr val="F6F7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A4A9B38-AA56-4C96-98A0-0B1FAFF611BB}"/>
              </a:ext>
            </a:extLst>
          </p:cNvPr>
          <p:cNvSpPr>
            <a:spLocks xmlns:a="http://schemas.openxmlformats.org/drawingml/2006/main" noGrp="1"/>
          </p:cNvSpPr>
          <p:nvPr/>
        </p:nvSpPr>
        <p:spPr>
          <a:xfrm xmlns:a="http://schemas.openxmlformats.org/drawingml/2006/main">
            <a:off x="685800" y="266700"/>
            <a:ext cx="10820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183B66"/>
                </a:solidFill>
                <a:latin typeface="Helvetica Neue"/>
                <a:ea typeface="Helvetica Neue"/>
                <a:cs typeface="Helvetica Neue"/>
              </a:defRPr>
            </a:defPPr>
          </a:lstStyle>
          <a:p xmlns:a="http://schemas.openxmlformats.org/drawingml/2006/main">
            <a:pPr algn="l">
              <a:defRPr sz="2325" b="1">
                <a:solidFill>
                  <a:srgbClr val="183B66"/>
                </a:solidFill>
                <a:latin typeface="Helvetica Neue"/>
                <a:ea typeface="Helvetica Neue"/>
                <a:cs typeface="Helvetica Neue"/>
              </a:defRPr>
            </a:pPr>
            <a:r>
              <a:rPr sz="2325" b="1">
                <a:solidFill>
                  <a:srgbClr val="183B66"/>
                </a:solidFill>
                <a:latin typeface="Helvetica Neue"/>
                <a:ea typeface="Helvetica Neue"/>
                <a:cs typeface="Helvetica Neue"/>
              </a:rPr>
              <a:t>Parcours d’analyse</a:t>
            </a:r>
          </a:p>
        </p:txBody>
      </p:sp>
      <p:sp>
        <p:nvSpPr>
          <p:cNvPr id="2" name="">
            <a:extLst xmlns:a="http://schemas.openxmlformats.org/drawingml/2006/main">
              <a:ext uri="{FF2B5EF4-FFF2-40B4-BE49-F238E27FC236}">
                <a16:creationId xmlns:a16="http://schemas.microsoft.com/office/drawing/2014/main" id="{CB899829-39F0-44EB-AAB2-7C3E53AC0F57}"/>
              </a:ext>
            </a:extLst>
          </p:cNvPr>
          <p:cNvSpPr>
            <a:spLocks xmlns:a="http://schemas.openxmlformats.org/drawingml/2006/main" noGrp="1"/>
          </p:cNvSpPr>
          <p:nvPr/>
        </p:nvSpPr>
        <p:spPr>
          <a:xfrm xmlns:a="http://schemas.openxmlformats.org/drawingml/2006/main">
            <a:off x="685800" y="933450"/>
            <a:ext cx="10820400" cy="28575"/>
          </a:xfrm>
          <a:prstGeom xmlns:a="http://schemas.openxmlformats.org/drawingml/2006/main" prst="rect">
            <a:avLst/>
          </a:prstGeom>
          <a:solidFill xmlns:a="http://schemas.openxmlformats.org/drawingml/2006/main">
            <a:srgbClr val="E88945"/>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591C8CB-D55E-47CB-BE5D-630834ACCDD4}"/>
              </a:ext>
            </a:extLst>
          </p:cNvPr>
          <p:cNvSpPr>
            <a:spLocks xmlns:a="http://schemas.openxmlformats.org/drawingml/2006/main" noGrp="1"/>
          </p:cNvSpPr>
          <p:nvPr/>
        </p:nvSpPr>
        <p:spPr>
          <a:xfrm xmlns:a="http://schemas.openxmlformats.org/drawingml/2006/main">
            <a:off x="685800" y="6438900"/>
            <a:ext cx="4191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050">
                <a:solidFill>
                  <a:srgbClr val="596575"/>
                </a:solidFill>
                <a:latin typeface="Helvetica Neue"/>
                <a:ea typeface="Helvetica Neue"/>
                <a:cs typeface="Helvetica Neue"/>
              </a:defRPr>
            </a:defPPr>
          </a:lstStyle>
          <a:p xmlns:a="http://schemas.openxmlformats.org/drawingml/2006/main">
            <a:pPr algn="l">
              <a:defRPr sz="1050">
                <a:solidFill>
                  <a:srgbClr val="596575"/>
                </a:solidFill>
                <a:latin typeface="Helvetica Neue"/>
                <a:ea typeface="Helvetica Neue"/>
                <a:cs typeface="Helvetica Neue"/>
              </a:defRPr>
            </a:pPr>
            <a:r>
              <a:rPr sz="1050">
                <a:solidFill>
                  <a:srgbClr val="596575"/>
                </a:solidFill>
                <a:latin typeface="Helvetica Neue"/>
                <a:ea typeface="Helvetica Neue"/>
                <a:cs typeface="Helvetica Neue"/>
              </a:rPr>
              <a:t>Hackathon ensIIE 2026, projet 3</a:t>
            </a:r>
          </a:p>
        </p:txBody>
      </p:sp>
      <p:sp>
        <p:nvSpPr>
          <p:cNvPr id="4" name="">
            <a:extLst xmlns:a="http://schemas.openxmlformats.org/drawingml/2006/main">
              <a:ext uri="{FF2B5EF4-FFF2-40B4-BE49-F238E27FC236}">
                <a16:creationId xmlns:a16="http://schemas.microsoft.com/office/drawing/2014/main" id="{53E33786-7DB1-408B-B2A0-121EDFE34948}"/>
              </a:ext>
            </a:extLst>
          </p:cNvPr>
          <p:cNvSpPr>
            <a:spLocks xmlns:a="http://schemas.openxmlformats.org/drawingml/2006/main" noGrp="1"/>
          </p:cNvSpPr>
          <p:nvPr/>
        </p:nvSpPr>
        <p:spPr>
          <a:xfrm xmlns:a="http://schemas.openxmlformats.org/drawingml/2006/main">
            <a:off x="10953750" y="6438900"/>
            <a:ext cx="552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050">
                <a:solidFill>
                  <a:srgbClr val="596575"/>
                </a:solidFill>
                <a:latin typeface="Helvetica Neue"/>
                <a:ea typeface="Helvetica Neue"/>
                <a:cs typeface="Helvetica Neue"/>
              </a:defRPr>
            </a:defPPr>
          </a:lstStyle>
          <a:p xmlns:a="http://schemas.openxmlformats.org/drawingml/2006/main">
            <a:pPr algn="r">
              <a:defRPr sz="1050">
                <a:solidFill>
                  <a:srgbClr val="596575"/>
                </a:solidFill>
                <a:latin typeface="Helvetica Neue"/>
                <a:ea typeface="Helvetica Neue"/>
                <a:cs typeface="Helvetica Neue"/>
              </a:defRPr>
            </a:pPr>
            <a:r>
              <a:rPr sz="1050">
                <a:solidFill>
                  <a:srgbClr val="596575"/>
                </a:solidFill>
                <a:latin typeface="Helvetica Neue"/>
                <a:ea typeface="Helvetica Neue"/>
                <a:cs typeface="Helvetica Neue"/>
              </a:rPr>
              <a:t>5/6</a:t>
            </a:r>
          </a:p>
        </p:txBody>
      </p:sp>
      <p:sp>
        <p:nvSpPr>
          <p:cNvPr id="5" name="">
            <a:extLst xmlns:a="http://schemas.openxmlformats.org/drawingml/2006/main">
              <a:ext uri="{FF2B5EF4-FFF2-40B4-BE49-F238E27FC236}">
                <a16:creationId xmlns:a16="http://schemas.microsoft.com/office/drawing/2014/main" id="{0D15E5B7-AB90-4D8F-91D7-16C05C6E28D8}"/>
              </a:ext>
            </a:extLst>
          </p:cNvPr>
          <p:cNvSpPr>
            <a:spLocks xmlns:a="http://schemas.openxmlformats.org/drawingml/2006/main" noGrp="1"/>
          </p:cNvSpPr>
          <p:nvPr/>
        </p:nvSpPr>
        <p:spPr>
          <a:xfrm xmlns:a="http://schemas.openxmlformats.org/drawingml/2006/main">
            <a:off x="914400" y="1504950"/>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E88945"/>
                </a:solidFill>
                <a:latin typeface="Helvetica Neue"/>
                <a:ea typeface="Helvetica Neue"/>
                <a:cs typeface="Helvetica Neue"/>
              </a:defRPr>
            </a:defPPr>
          </a:lstStyle>
          <a:p xmlns:a="http://schemas.openxmlformats.org/drawingml/2006/main">
            <a:pPr algn="l">
              <a:defRPr sz="2250" b="1">
                <a:solidFill>
                  <a:srgbClr val="E88945"/>
                </a:solidFill>
                <a:latin typeface="Helvetica Neue"/>
                <a:ea typeface="Helvetica Neue"/>
                <a:cs typeface="Helvetica Neue"/>
              </a:defRPr>
            </a:pPr>
            <a:r>
              <a:rPr sz="2250" b="1">
                <a:solidFill>
                  <a:srgbClr val="E88945"/>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6191CF54-DD23-487D-80B0-2C09CB892F12}"/>
              </a:ext>
            </a:extLst>
          </p:cNvPr>
          <p:cNvSpPr>
            <a:spLocks xmlns:a="http://schemas.openxmlformats.org/drawingml/2006/main" noGrp="1"/>
          </p:cNvSpPr>
          <p:nvPr/>
        </p:nvSpPr>
        <p:spPr>
          <a:xfrm xmlns:a="http://schemas.openxmlformats.org/drawingml/2006/main">
            <a:off x="914400" y="19621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183B66"/>
                </a:solidFill>
                <a:latin typeface="Helvetica Neue"/>
                <a:ea typeface="Helvetica Neue"/>
                <a:cs typeface="Helvetica Neue"/>
              </a:defRPr>
            </a:defPPr>
          </a:lstStyle>
          <a:p xmlns:a="http://schemas.openxmlformats.org/drawingml/2006/main">
            <a:pPr algn="l">
              <a:defRPr sz="2250" b="1">
                <a:solidFill>
                  <a:srgbClr val="183B66"/>
                </a:solidFill>
                <a:latin typeface="Helvetica Neue"/>
                <a:ea typeface="Helvetica Neue"/>
                <a:cs typeface="Helvetica Neue"/>
              </a:defRPr>
            </a:pPr>
            <a:r>
              <a:rPr sz="2250" b="1">
                <a:solidFill>
                  <a:srgbClr val="183B66"/>
                </a:solidFill>
                <a:latin typeface="Helvetica Neue"/>
                <a:ea typeface="Helvetica Neue"/>
                <a:cs typeface="Helvetica Neue"/>
              </a:rPr>
              <a:t>Filtrer</a:t>
            </a:r>
          </a:p>
        </p:txBody>
      </p:sp>
      <p:sp>
        <p:nvSpPr>
          <p:cNvPr id="7" name="">
            <a:extLst xmlns:a="http://schemas.openxmlformats.org/drawingml/2006/main">
              <a:ext uri="{FF2B5EF4-FFF2-40B4-BE49-F238E27FC236}">
                <a16:creationId xmlns:a16="http://schemas.microsoft.com/office/drawing/2014/main" id="{74853844-02A2-4A0B-8C42-8073F6322619}"/>
              </a:ext>
            </a:extLst>
          </p:cNvPr>
          <p:cNvSpPr>
            <a:spLocks xmlns:a="http://schemas.openxmlformats.org/drawingml/2006/main" noGrp="1"/>
          </p:cNvSpPr>
          <p:nvPr/>
        </p:nvSpPr>
        <p:spPr>
          <a:xfrm xmlns:a="http://schemas.openxmlformats.org/drawingml/2006/main">
            <a:off x="914400" y="2447925"/>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a:solidFill>
                  <a:srgbClr val="596575"/>
                </a:solidFill>
                <a:latin typeface="Helvetica Neue"/>
                <a:ea typeface="Helvetica Neue"/>
                <a:cs typeface="Helvetica Neue"/>
              </a:defRPr>
            </a:defPPr>
          </a:lstStyle>
          <a:p xmlns:a="http://schemas.openxmlformats.org/drawingml/2006/main">
            <a:pPr algn="l">
              <a:defRPr sz="1650">
                <a:solidFill>
                  <a:srgbClr val="596575"/>
                </a:solidFill>
                <a:latin typeface="Helvetica Neue"/>
                <a:ea typeface="Helvetica Neue"/>
                <a:cs typeface="Helvetica Neue"/>
              </a:defRPr>
            </a:pPr>
            <a:r>
              <a:rPr sz="1650">
                <a:solidFill>
                  <a:srgbClr val="596575"/>
                </a:solidFill>
                <a:latin typeface="Helvetica Neue"/>
                <a:ea typeface="Helvetica Neue"/>
                <a:cs typeface="Helvetica Neue"/>
              </a:rPr>
              <a:t>Choisir une année et les filières.</a:t>
            </a:r>
          </a:p>
        </p:txBody>
      </p:sp>
      <p:sp>
        <p:nvSpPr>
          <p:cNvPr id="8" name="">
            <a:extLst xmlns:a="http://schemas.openxmlformats.org/drawingml/2006/main">
              <a:ext uri="{FF2B5EF4-FFF2-40B4-BE49-F238E27FC236}">
                <a16:creationId xmlns:a16="http://schemas.microsoft.com/office/drawing/2014/main" id="{722794AF-D440-4839-A006-17E57DA32AA9}"/>
              </a:ext>
            </a:extLst>
          </p:cNvPr>
          <p:cNvSpPr>
            <a:spLocks xmlns:a="http://schemas.openxmlformats.org/drawingml/2006/main" noGrp="1"/>
          </p:cNvSpPr>
          <p:nvPr/>
        </p:nvSpPr>
        <p:spPr>
          <a:xfrm xmlns:a="http://schemas.openxmlformats.org/drawingml/2006/main">
            <a:off x="6457950" y="1504950"/>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E88945"/>
                </a:solidFill>
                <a:latin typeface="Helvetica Neue"/>
                <a:ea typeface="Helvetica Neue"/>
                <a:cs typeface="Helvetica Neue"/>
              </a:defRPr>
            </a:defPPr>
          </a:lstStyle>
          <a:p xmlns:a="http://schemas.openxmlformats.org/drawingml/2006/main">
            <a:pPr algn="l">
              <a:defRPr sz="2250" b="1">
                <a:solidFill>
                  <a:srgbClr val="E88945"/>
                </a:solidFill>
                <a:latin typeface="Helvetica Neue"/>
                <a:ea typeface="Helvetica Neue"/>
                <a:cs typeface="Helvetica Neue"/>
              </a:defRPr>
            </a:pPr>
            <a:r>
              <a:rPr sz="2250" b="1">
                <a:solidFill>
                  <a:srgbClr val="E88945"/>
                </a:solidFill>
                <a:latin typeface="Helvetica Neue"/>
                <a:ea typeface="Helvetica Neue"/>
                <a:cs typeface="Helvetica Neue"/>
              </a:rPr>
              <a:t>02</a:t>
            </a:r>
          </a:p>
        </p:txBody>
      </p:sp>
      <p:sp>
        <p:nvSpPr>
          <p:cNvPr id="9" name="">
            <a:extLst xmlns:a="http://schemas.openxmlformats.org/drawingml/2006/main">
              <a:ext uri="{FF2B5EF4-FFF2-40B4-BE49-F238E27FC236}">
                <a16:creationId xmlns:a16="http://schemas.microsoft.com/office/drawing/2014/main" id="{6D3C15FF-499C-4840-B9CB-31C6BBFB7C13}"/>
              </a:ext>
            </a:extLst>
          </p:cNvPr>
          <p:cNvSpPr>
            <a:spLocks xmlns:a="http://schemas.openxmlformats.org/drawingml/2006/main" noGrp="1"/>
          </p:cNvSpPr>
          <p:nvPr/>
        </p:nvSpPr>
        <p:spPr>
          <a:xfrm xmlns:a="http://schemas.openxmlformats.org/drawingml/2006/main">
            <a:off x="6457950" y="19621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183B66"/>
                </a:solidFill>
                <a:latin typeface="Helvetica Neue"/>
                <a:ea typeface="Helvetica Neue"/>
                <a:cs typeface="Helvetica Neue"/>
              </a:defRPr>
            </a:defPPr>
          </a:lstStyle>
          <a:p xmlns:a="http://schemas.openxmlformats.org/drawingml/2006/main">
            <a:pPr algn="l">
              <a:defRPr sz="2250" b="1">
                <a:solidFill>
                  <a:srgbClr val="183B66"/>
                </a:solidFill>
                <a:latin typeface="Helvetica Neue"/>
                <a:ea typeface="Helvetica Neue"/>
                <a:cs typeface="Helvetica Neue"/>
              </a:defRPr>
            </a:pPr>
            <a:r>
              <a:rPr sz="2250" b="1">
                <a:solidFill>
                  <a:srgbClr val="183B66"/>
                </a:solidFill>
                <a:latin typeface="Helvetica Neue"/>
                <a:ea typeface="Helvetica Neue"/>
                <a:cs typeface="Helvetica Neue"/>
              </a:rPr>
              <a:t>Repérer</a:t>
            </a:r>
          </a:p>
        </p:txBody>
      </p:sp>
      <p:sp>
        <p:nvSpPr>
          <p:cNvPr id="10" name="">
            <a:extLst xmlns:a="http://schemas.openxmlformats.org/drawingml/2006/main">
              <a:ext uri="{FF2B5EF4-FFF2-40B4-BE49-F238E27FC236}">
                <a16:creationId xmlns:a16="http://schemas.microsoft.com/office/drawing/2014/main" id="{30747412-787E-43EF-9D4B-511E0F99E0E4}"/>
              </a:ext>
            </a:extLst>
          </p:cNvPr>
          <p:cNvSpPr>
            <a:spLocks xmlns:a="http://schemas.openxmlformats.org/drawingml/2006/main" noGrp="1"/>
          </p:cNvSpPr>
          <p:nvPr/>
        </p:nvSpPr>
        <p:spPr>
          <a:xfrm xmlns:a="http://schemas.openxmlformats.org/drawingml/2006/main">
            <a:off x="6457950" y="2447925"/>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a:solidFill>
                  <a:srgbClr val="596575"/>
                </a:solidFill>
                <a:latin typeface="Helvetica Neue"/>
                <a:ea typeface="Helvetica Neue"/>
                <a:cs typeface="Helvetica Neue"/>
              </a:defRPr>
            </a:defPPr>
          </a:lstStyle>
          <a:p xmlns:a="http://schemas.openxmlformats.org/drawingml/2006/main">
            <a:pPr algn="l">
              <a:defRPr sz="1650">
                <a:solidFill>
                  <a:srgbClr val="596575"/>
                </a:solidFill>
                <a:latin typeface="Helvetica Neue"/>
                <a:ea typeface="Helvetica Neue"/>
                <a:cs typeface="Helvetica Neue"/>
              </a:defRPr>
            </a:pPr>
            <a:r>
              <a:rPr sz="1650">
                <a:solidFill>
                  <a:srgbClr val="596575"/>
                </a:solidFill>
                <a:latin typeface="Helvetica Neue"/>
                <a:ea typeface="Helvetica Neue"/>
                <a:cs typeface="Helvetica Neue"/>
              </a:rPr>
              <a:t>Lire les alertes et l’évolution des indicateurs.</a:t>
            </a:r>
          </a:p>
        </p:txBody>
      </p:sp>
      <p:sp>
        <p:nvSpPr>
          <p:cNvPr id="11" name="">
            <a:extLst xmlns:a="http://schemas.openxmlformats.org/drawingml/2006/main">
              <a:ext uri="{FF2B5EF4-FFF2-40B4-BE49-F238E27FC236}">
                <a16:creationId xmlns:a16="http://schemas.microsoft.com/office/drawing/2014/main" id="{44DAA090-7221-48C7-B943-720DFE09533A}"/>
              </a:ext>
            </a:extLst>
          </p:cNvPr>
          <p:cNvSpPr>
            <a:spLocks xmlns:a="http://schemas.openxmlformats.org/drawingml/2006/main" noGrp="1"/>
          </p:cNvSpPr>
          <p:nvPr/>
        </p:nvSpPr>
        <p:spPr>
          <a:xfrm xmlns:a="http://schemas.openxmlformats.org/drawingml/2006/main">
            <a:off x="914400" y="3600450"/>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E88945"/>
                </a:solidFill>
                <a:latin typeface="Helvetica Neue"/>
                <a:ea typeface="Helvetica Neue"/>
                <a:cs typeface="Helvetica Neue"/>
              </a:defRPr>
            </a:defPPr>
          </a:lstStyle>
          <a:p xmlns:a="http://schemas.openxmlformats.org/drawingml/2006/main">
            <a:pPr algn="l">
              <a:defRPr sz="2250" b="1">
                <a:solidFill>
                  <a:srgbClr val="E88945"/>
                </a:solidFill>
                <a:latin typeface="Helvetica Neue"/>
                <a:ea typeface="Helvetica Neue"/>
                <a:cs typeface="Helvetica Neue"/>
              </a:defRPr>
            </a:pPr>
            <a:r>
              <a:rPr sz="2250" b="1">
                <a:solidFill>
                  <a:srgbClr val="E88945"/>
                </a:solidFill>
                <a:latin typeface="Helvetica Neue"/>
                <a:ea typeface="Helvetica Neue"/>
                <a:cs typeface="Helvetica Neue"/>
              </a:rPr>
              <a:t>03</a:t>
            </a:r>
          </a:p>
        </p:txBody>
      </p:sp>
      <p:sp>
        <p:nvSpPr>
          <p:cNvPr id="12" name="">
            <a:extLst xmlns:a="http://schemas.openxmlformats.org/drawingml/2006/main">
              <a:ext uri="{FF2B5EF4-FFF2-40B4-BE49-F238E27FC236}">
                <a16:creationId xmlns:a16="http://schemas.microsoft.com/office/drawing/2014/main" id="{BEF18B17-BA06-4058-B61B-FAAD6F16F824}"/>
              </a:ext>
            </a:extLst>
          </p:cNvPr>
          <p:cNvSpPr>
            <a:spLocks xmlns:a="http://schemas.openxmlformats.org/drawingml/2006/main" noGrp="1"/>
          </p:cNvSpPr>
          <p:nvPr/>
        </p:nvSpPr>
        <p:spPr>
          <a:xfrm xmlns:a="http://schemas.openxmlformats.org/drawingml/2006/main">
            <a:off x="914400" y="40576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183B66"/>
                </a:solidFill>
                <a:latin typeface="Helvetica Neue"/>
                <a:ea typeface="Helvetica Neue"/>
                <a:cs typeface="Helvetica Neue"/>
              </a:defRPr>
            </a:defPPr>
          </a:lstStyle>
          <a:p xmlns:a="http://schemas.openxmlformats.org/drawingml/2006/main">
            <a:pPr algn="l">
              <a:defRPr sz="2250" b="1">
                <a:solidFill>
                  <a:srgbClr val="183B66"/>
                </a:solidFill>
                <a:latin typeface="Helvetica Neue"/>
                <a:ea typeface="Helvetica Neue"/>
                <a:cs typeface="Helvetica Neue"/>
              </a:defRPr>
            </a:pPr>
            <a:r>
              <a:rPr sz="2250" b="1">
                <a:solidFill>
                  <a:srgbClr val="183B66"/>
                </a:solidFill>
                <a:latin typeface="Helvetica Neue"/>
                <a:ea typeface="Helvetica Neue"/>
                <a:cs typeface="Helvetica Neue"/>
              </a:rPr>
              <a:t>Vérifier</a:t>
            </a:r>
          </a:p>
        </p:txBody>
      </p:sp>
      <p:sp>
        <p:nvSpPr>
          <p:cNvPr id="13" name="">
            <a:extLst xmlns:a="http://schemas.openxmlformats.org/drawingml/2006/main">
              <a:ext uri="{FF2B5EF4-FFF2-40B4-BE49-F238E27FC236}">
                <a16:creationId xmlns:a16="http://schemas.microsoft.com/office/drawing/2014/main" id="{EDB6451C-F37E-4524-BEBD-3D7EC2EAC6C0}"/>
              </a:ext>
            </a:extLst>
          </p:cNvPr>
          <p:cNvSpPr>
            <a:spLocks xmlns:a="http://schemas.openxmlformats.org/drawingml/2006/main" noGrp="1"/>
          </p:cNvSpPr>
          <p:nvPr/>
        </p:nvSpPr>
        <p:spPr>
          <a:xfrm xmlns:a="http://schemas.openxmlformats.org/drawingml/2006/main">
            <a:off x="914400" y="4543425"/>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a:solidFill>
                  <a:srgbClr val="596575"/>
                </a:solidFill>
                <a:latin typeface="Helvetica Neue"/>
                <a:ea typeface="Helvetica Neue"/>
                <a:cs typeface="Helvetica Neue"/>
              </a:defRPr>
            </a:defPPr>
          </a:lstStyle>
          <a:p xmlns:a="http://schemas.openxmlformats.org/drawingml/2006/main">
            <a:pPr algn="l">
              <a:defRPr sz="1650">
                <a:solidFill>
                  <a:srgbClr val="596575"/>
                </a:solidFill>
                <a:latin typeface="Helvetica Neue"/>
                <a:ea typeface="Helvetica Neue"/>
                <a:cs typeface="Helvetica Neue"/>
              </a:defRPr>
            </a:pPr>
            <a:r>
              <a:rPr sz="1650">
                <a:solidFill>
                  <a:srgbClr val="596575"/>
                </a:solidFill>
                <a:latin typeface="Helvetica Neue"/>
                <a:ea typeface="Helvetica Neue"/>
                <a:cs typeface="Helvetica Neue"/>
              </a:rPr>
              <a:t>Consulter la définition, la formule et les sources.</a:t>
            </a:r>
          </a:p>
        </p:txBody>
      </p:sp>
      <p:sp>
        <p:nvSpPr>
          <p:cNvPr id="14" name="">
            <a:extLst xmlns:a="http://schemas.openxmlformats.org/drawingml/2006/main">
              <a:ext uri="{FF2B5EF4-FFF2-40B4-BE49-F238E27FC236}">
                <a16:creationId xmlns:a16="http://schemas.microsoft.com/office/drawing/2014/main" id="{82BEEEC5-ABD5-477C-B0CC-1E3BCABBA70A}"/>
              </a:ext>
            </a:extLst>
          </p:cNvPr>
          <p:cNvSpPr>
            <a:spLocks xmlns:a="http://schemas.openxmlformats.org/drawingml/2006/main" noGrp="1"/>
          </p:cNvSpPr>
          <p:nvPr/>
        </p:nvSpPr>
        <p:spPr>
          <a:xfrm xmlns:a="http://schemas.openxmlformats.org/drawingml/2006/main">
            <a:off x="6457950" y="3600450"/>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E88945"/>
                </a:solidFill>
                <a:latin typeface="Helvetica Neue"/>
                <a:ea typeface="Helvetica Neue"/>
                <a:cs typeface="Helvetica Neue"/>
              </a:defRPr>
            </a:defPPr>
          </a:lstStyle>
          <a:p xmlns:a="http://schemas.openxmlformats.org/drawingml/2006/main">
            <a:pPr algn="l">
              <a:defRPr sz="2250" b="1">
                <a:solidFill>
                  <a:srgbClr val="E88945"/>
                </a:solidFill>
                <a:latin typeface="Helvetica Neue"/>
                <a:ea typeface="Helvetica Neue"/>
                <a:cs typeface="Helvetica Neue"/>
              </a:defRPr>
            </a:pPr>
            <a:r>
              <a:rPr sz="2250" b="1">
                <a:solidFill>
                  <a:srgbClr val="E88945"/>
                </a:solidFill>
                <a:latin typeface="Helvetica Neue"/>
                <a:ea typeface="Helvetica Neue"/>
                <a:cs typeface="Helvetica Neue"/>
              </a:rPr>
              <a:t>04</a:t>
            </a:r>
          </a:p>
        </p:txBody>
      </p:sp>
      <p:sp>
        <p:nvSpPr>
          <p:cNvPr id="15" name="">
            <a:extLst xmlns:a="http://schemas.openxmlformats.org/drawingml/2006/main">
              <a:ext uri="{FF2B5EF4-FFF2-40B4-BE49-F238E27FC236}">
                <a16:creationId xmlns:a16="http://schemas.microsoft.com/office/drawing/2014/main" id="{2A6C9F42-89D4-4E91-8D37-48A90628F2A7}"/>
              </a:ext>
            </a:extLst>
          </p:cNvPr>
          <p:cNvSpPr>
            <a:spLocks xmlns:a="http://schemas.openxmlformats.org/drawingml/2006/main" noGrp="1"/>
          </p:cNvSpPr>
          <p:nvPr/>
        </p:nvSpPr>
        <p:spPr>
          <a:xfrm xmlns:a="http://schemas.openxmlformats.org/drawingml/2006/main">
            <a:off x="6457950" y="405765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183B66"/>
                </a:solidFill>
                <a:latin typeface="Helvetica Neue"/>
                <a:ea typeface="Helvetica Neue"/>
                <a:cs typeface="Helvetica Neue"/>
              </a:defRPr>
            </a:defPPr>
          </a:lstStyle>
          <a:p xmlns:a="http://schemas.openxmlformats.org/drawingml/2006/main">
            <a:pPr algn="l">
              <a:defRPr sz="2250" b="1">
                <a:solidFill>
                  <a:srgbClr val="183B66"/>
                </a:solidFill>
                <a:latin typeface="Helvetica Neue"/>
                <a:ea typeface="Helvetica Neue"/>
                <a:cs typeface="Helvetica Neue"/>
              </a:defRPr>
            </a:pPr>
            <a:r>
              <a:rPr sz="2250" b="1">
                <a:solidFill>
                  <a:srgbClr val="183B66"/>
                </a:solidFill>
                <a:latin typeface="Helvetica Neue"/>
                <a:ea typeface="Helvetica Neue"/>
                <a:cs typeface="Helvetica Neue"/>
              </a:rPr>
              <a:t>Exporter</a:t>
            </a:r>
          </a:p>
        </p:txBody>
      </p:sp>
      <p:sp>
        <p:nvSpPr>
          <p:cNvPr id="16" name="">
            <a:extLst xmlns:a="http://schemas.openxmlformats.org/drawingml/2006/main">
              <a:ext uri="{FF2B5EF4-FFF2-40B4-BE49-F238E27FC236}">
                <a16:creationId xmlns:a16="http://schemas.microsoft.com/office/drawing/2014/main" id="{7A9E2D1B-1EBC-4770-8A10-2083828F594C}"/>
              </a:ext>
            </a:extLst>
          </p:cNvPr>
          <p:cNvSpPr>
            <a:spLocks xmlns:a="http://schemas.openxmlformats.org/drawingml/2006/main" noGrp="1"/>
          </p:cNvSpPr>
          <p:nvPr/>
        </p:nvSpPr>
        <p:spPr>
          <a:xfrm xmlns:a="http://schemas.openxmlformats.org/drawingml/2006/main">
            <a:off x="6457950" y="4543425"/>
            <a:ext cx="4476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a:solidFill>
                  <a:srgbClr val="596575"/>
                </a:solidFill>
                <a:latin typeface="Helvetica Neue"/>
                <a:ea typeface="Helvetica Neue"/>
                <a:cs typeface="Helvetica Neue"/>
              </a:defRPr>
            </a:defPPr>
          </a:lstStyle>
          <a:p xmlns:a="http://schemas.openxmlformats.org/drawingml/2006/main">
            <a:pPr algn="l">
              <a:defRPr sz="1650">
                <a:solidFill>
                  <a:srgbClr val="596575"/>
                </a:solidFill>
                <a:latin typeface="Helvetica Neue"/>
                <a:ea typeface="Helvetica Neue"/>
                <a:cs typeface="Helvetica Neue"/>
              </a:defRPr>
            </a:pPr>
            <a:r>
              <a:rPr sz="1650">
                <a:solidFill>
                  <a:srgbClr val="596575"/>
                </a:solidFill>
                <a:latin typeface="Helvetica Neue"/>
                <a:ea typeface="Helvetica Neue"/>
                <a:cs typeface="Helvetica Neue"/>
              </a:rPr>
              <a:t>Télécharger les résultats en CSV.</a:t>
            </a:r>
          </a:p>
        </p:txBody>
      </p:sp>
      <p:sp>
        <p:nvSpPr>
          <p:cNvPr id="17" name="">
            <a:extLst xmlns:a="http://schemas.openxmlformats.org/drawingml/2006/main">
              <a:ext uri="{FF2B5EF4-FFF2-40B4-BE49-F238E27FC236}">
                <a16:creationId xmlns:a16="http://schemas.microsoft.com/office/drawing/2014/main" id="{18416937-7481-4222-9444-A519FA2EE25F}"/>
              </a:ext>
            </a:extLst>
          </p:cNvPr>
          <p:cNvSpPr>
            <a:spLocks xmlns:a="http://schemas.openxmlformats.org/drawingml/2006/main" noGrp="1"/>
          </p:cNvSpPr>
          <p:nvPr/>
        </p:nvSpPr>
        <p:spPr>
          <a:xfrm xmlns:a="http://schemas.openxmlformats.org/drawingml/2006/main">
            <a:off x="914400" y="57435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a:solidFill>
                  <a:srgbClr val="18212B"/>
                </a:solidFill>
                <a:latin typeface="Helvetica Neue"/>
                <a:ea typeface="Helvetica Neue"/>
                <a:cs typeface="Helvetica Neue"/>
              </a:defRPr>
            </a:defPPr>
          </a:lstStyle>
          <a:p xmlns:a="http://schemas.openxmlformats.org/drawingml/2006/main">
            <a:pPr algn="l">
              <a:defRPr sz="1575">
                <a:solidFill>
                  <a:srgbClr val="18212B"/>
                </a:solidFill>
                <a:latin typeface="Helvetica Neue"/>
                <a:ea typeface="Helvetica Neue"/>
                <a:cs typeface="Helvetica Neue"/>
              </a:defRPr>
            </a:pPr>
            <a:r>
              <a:rPr sz="1575">
                <a:solidFill>
                  <a:srgbClr val="18212B"/>
                </a:solidFill>
                <a:latin typeface="Helvetica Neue"/>
                <a:ea typeface="Helvetica Neue"/>
                <a:cs typeface="Helvetica Neue"/>
              </a:rPr>
              <a:t>L’interface relie la vue générale au détail de chaque axe.</a:t>
            </a:r>
          </a:p>
        </p:txBody>
      </p:sp>
    </p:spTree>
    <p:extLst>
      <p:ext uri="{BB962C8B-B14F-4D97-AF65-F5344CB8AC3E}">
        <p14:creationId xmlns:p14="http://schemas.microsoft.com/office/powerpoint/2010/main" val="1438082299"/>
      </p:ext>
    </p:extLst>
  </p:cSld>
</p:sld>
</file>

<file path=ppt/slides/slide6.xml><?xml version="1.0" encoding="utf-8"?>
<p:sld xmlns:p="http://schemas.openxmlformats.org/presentationml/2006/main">
  <p:cSld>
    <p:bg>
      <p:bgPr>
        <a:solidFill xmlns:a="http://schemas.openxmlformats.org/drawingml/2006/main">
          <a:srgbClr val="183B6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0983718-4D7D-4F32-B37F-E8CE8BBAF12A}"/>
              </a:ext>
            </a:extLst>
          </p:cNvPr>
          <p:cNvSpPr>
            <a:spLocks xmlns:a="http://schemas.openxmlformats.org/drawingml/2006/main" noGrp="1"/>
          </p:cNvSpPr>
          <p:nvPr/>
        </p:nvSpPr>
        <p:spPr>
          <a:xfrm xmlns:a="http://schemas.openxmlformats.org/drawingml/2006/main">
            <a:off x="781050" y="1533525"/>
            <a:ext cx="47625" cy="2381250"/>
          </a:xfrm>
          <a:prstGeom xmlns:a="http://schemas.openxmlformats.org/drawingml/2006/main" prst="rect">
            <a:avLst/>
          </a:prstGeom>
          <a:solidFill xmlns:a="http://schemas.openxmlformats.org/drawingml/2006/main">
            <a:srgbClr val="E889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0656D0C-BEE9-499C-A39A-22267C1C2F23}"/>
              </a:ext>
            </a:extLst>
          </p:cNvPr>
          <p:cNvSpPr>
            <a:spLocks xmlns:a="http://schemas.openxmlformats.org/drawingml/2006/main" noGrp="1"/>
          </p:cNvSpPr>
          <p:nvPr/>
        </p:nvSpPr>
        <p:spPr>
          <a:xfrm xmlns:a="http://schemas.openxmlformats.org/drawingml/2006/main">
            <a:off x="1162050" y="904875"/>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E88945"/>
                </a:solidFill>
                <a:latin typeface="Helvetica Neue"/>
                <a:ea typeface="Helvetica Neue"/>
                <a:cs typeface="Helvetica Neue"/>
              </a:defRPr>
            </a:defPPr>
          </a:lstStyle>
          <a:p xmlns:a="http://schemas.openxmlformats.org/drawingml/2006/main">
            <a:pPr algn="l">
              <a:defRPr sz="1425" b="1">
                <a:solidFill>
                  <a:srgbClr val="E88945"/>
                </a:solidFill>
                <a:latin typeface="Helvetica Neue"/>
                <a:ea typeface="Helvetica Neue"/>
                <a:cs typeface="Helvetica Neue"/>
              </a:defRPr>
            </a:pPr>
            <a:r>
              <a:rPr sz="1425" b="1">
                <a:solidFill>
                  <a:srgbClr val="E88945"/>
                </a:solidFill>
                <a:latin typeface="Helvetica Neue"/>
                <a:ea typeface="Helvetica Neue"/>
                <a:cs typeface="Helvetica Neue"/>
              </a:rPr>
              <a:t>USAGE RÉEL</a:t>
            </a:r>
          </a:p>
        </p:txBody>
      </p:sp>
      <p:sp>
        <p:nvSpPr>
          <p:cNvPr id="3" name="">
            <a:extLst xmlns:a="http://schemas.openxmlformats.org/drawingml/2006/main">
              <a:ext uri="{FF2B5EF4-FFF2-40B4-BE49-F238E27FC236}">
                <a16:creationId xmlns:a16="http://schemas.microsoft.com/office/drawing/2014/main" id="{03316E79-C58C-440F-BCD6-17B6732F46AD}"/>
              </a:ext>
            </a:extLst>
          </p:cNvPr>
          <p:cNvSpPr>
            <a:spLocks xmlns:a="http://schemas.openxmlformats.org/drawingml/2006/main" noGrp="1"/>
          </p:cNvSpPr>
          <p:nvPr/>
        </p:nvSpPr>
        <p:spPr>
          <a:xfrm xmlns:a="http://schemas.openxmlformats.org/drawingml/2006/main">
            <a:off x="1162050" y="1495425"/>
            <a:ext cx="92392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958"/>
          </a:bodyPr>
          <a:lstStyle xmlns:a="http://schemas.openxmlformats.org/drawingml/2006/main">
            <a:defPPr algn="l">
              <a:defRPr sz="3600" b="1">
                <a:solidFill>
                  <a:srgbClr val="FFFFFF"/>
                </a:solidFill>
                <a:latin typeface="Helvetica Neue"/>
                <a:ea typeface="Helvetica Neue"/>
                <a:cs typeface="Helvetica Neue"/>
              </a:defRPr>
            </a:defPPr>
          </a:lstStyle>
          <a:p xmlns:a="http://schemas.openxmlformats.org/drawingml/2006/main">
            <a:pPr algn="l">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Données officielles,</a:t>
            </a:r>
          </a:p>
          <a:p xmlns:a="http://schemas.openxmlformats.org/drawingml/2006/main">
            <a:pPr algn="l">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seuils validés</a:t>
            </a:r>
          </a:p>
        </p:txBody>
      </p:sp>
      <p:sp>
        <p:nvSpPr>
          <p:cNvPr id="4" name="">
            <a:extLst xmlns:a="http://schemas.openxmlformats.org/drawingml/2006/main">
              <a:ext uri="{FF2B5EF4-FFF2-40B4-BE49-F238E27FC236}">
                <a16:creationId xmlns:a16="http://schemas.microsoft.com/office/drawing/2014/main" id="{A603A61F-4AAB-4EE8-BEEA-F25D9341741A}"/>
              </a:ext>
            </a:extLst>
          </p:cNvPr>
          <p:cNvSpPr>
            <a:spLocks xmlns:a="http://schemas.openxmlformats.org/drawingml/2006/main" noGrp="1"/>
          </p:cNvSpPr>
          <p:nvPr/>
        </p:nvSpPr>
        <p:spPr>
          <a:xfrm xmlns:a="http://schemas.openxmlformats.org/drawingml/2006/main">
            <a:off x="1162050" y="2981325"/>
            <a:ext cx="981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a:solidFill>
                  <a:srgbClr val="FFFFFF"/>
                </a:solidFill>
                <a:latin typeface="Helvetica Neue"/>
                <a:ea typeface="Helvetica Neue"/>
                <a:cs typeface="Helvetica Neue"/>
              </a:defRPr>
            </a:defPPr>
          </a:lstStyle>
          <a:p xmlns:a="http://schemas.openxmlformats.org/drawingml/2006/main">
            <a:pPr algn="l">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Remplacer les fichiers de démonstration par les exports de l’école, puis faire valider les définitions et les seuils par les responsables des axes.</a:t>
            </a:r>
          </a:p>
        </p:txBody>
      </p:sp>
      <p:sp>
        <p:nvSpPr>
          <p:cNvPr id="5" name="">
            <a:extLst xmlns:a="http://schemas.openxmlformats.org/drawingml/2006/main">
              <a:ext uri="{FF2B5EF4-FFF2-40B4-BE49-F238E27FC236}">
                <a16:creationId xmlns:a16="http://schemas.microsoft.com/office/drawing/2014/main" id="{F898D72A-AF05-45F3-9313-34E49020D069}"/>
              </a:ext>
            </a:extLst>
          </p:cNvPr>
          <p:cNvSpPr>
            <a:spLocks xmlns:a="http://schemas.openxmlformats.org/drawingml/2006/main" noGrp="1"/>
          </p:cNvSpPr>
          <p:nvPr/>
        </p:nvSpPr>
        <p:spPr>
          <a:xfrm xmlns:a="http://schemas.openxmlformats.org/drawingml/2006/main">
            <a:off x="1162050" y="4552950"/>
            <a:ext cx="9810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a:solidFill>
                  <a:srgbClr val="DCE6F1"/>
                </a:solidFill>
                <a:latin typeface="Helvetica Neue"/>
                <a:ea typeface="Helvetica Neue"/>
                <a:cs typeface="Helvetica Neue"/>
              </a:defRPr>
            </a:defPPr>
          </a:lstStyle>
          <a:p xmlns:a="http://schemas.openxmlformats.org/drawingml/2006/main">
            <a:pPr algn="l">
              <a:defRPr sz="1650">
                <a:solidFill>
                  <a:srgbClr val="DCE6F1"/>
                </a:solidFill>
                <a:latin typeface="Helvetica Neue"/>
                <a:ea typeface="Helvetica Neue"/>
                <a:cs typeface="Helvetica Neue"/>
              </a:defRPr>
            </a:pPr>
            <a:r>
              <a:rPr sz="1650">
                <a:solidFill>
                  <a:srgbClr val="DCE6F1"/>
                </a:solidFill>
                <a:latin typeface="Helvetica Neue"/>
                <a:ea typeface="Helvetica Neue"/>
                <a:cs typeface="Helvetica Neue"/>
              </a:rPr>
              <a:t>Démo : filtrer une filière, ouvrir un axe et lire la courbe.</a:t>
            </a:r>
          </a:p>
        </p:txBody>
      </p:sp>
      <p:sp>
        <p:nvSpPr>
          <p:cNvPr id="6" name="">
            <a:extLst xmlns:a="http://schemas.openxmlformats.org/drawingml/2006/main">
              <a:ext uri="{FF2B5EF4-FFF2-40B4-BE49-F238E27FC236}">
                <a16:creationId xmlns:a16="http://schemas.microsoft.com/office/drawing/2014/main" id="{6F8F0FF2-CD07-4585-91A6-743DFD144492}"/>
              </a:ext>
            </a:extLst>
          </p:cNvPr>
          <p:cNvSpPr>
            <a:spLocks xmlns:a="http://schemas.openxmlformats.org/drawingml/2006/main" noGrp="1"/>
          </p:cNvSpPr>
          <p:nvPr/>
        </p:nvSpPr>
        <p:spPr>
          <a:xfrm xmlns:a="http://schemas.openxmlformats.org/drawingml/2006/main">
            <a:off x="1162050" y="5410200"/>
            <a:ext cx="285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E88945"/>
                </a:solidFill>
                <a:latin typeface="Helvetica Neue"/>
                <a:ea typeface="Helvetica Neue"/>
                <a:cs typeface="Helvetica Neue"/>
              </a:defRPr>
            </a:defPPr>
          </a:lstStyle>
          <a:p xmlns:a="http://schemas.openxmlformats.org/drawingml/2006/main">
            <a:pPr algn="l">
              <a:defRPr sz="2325" b="1">
                <a:solidFill>
                  <a:srgbClr val="E88945"/>
                </a:solidFill>
                <a:latin typeface="Helvetica Neue"/>
                <a:ea typeface="Helvetica Neue"/>
                <a:cs typeface="Helvetica Neue"/>
              </a:defRPr>
            </a:pPr>
            <a:r>
              <a:rPr sz="2325" b="1">
                <a:solidFill>
                  <a:srgbClr val="E88945"/>
                </a:solidFill>
                <a:latin typeface="Helvetica Neue"/>
                <a:ea typeface="Helvetica Neue"/>
                <a:cs typeface="Helvetica Neue"/>
              </a:rPr>
              <a:t>Merci</a:t>
            </a:r>
          </a:p>
        </p:txBody>
      </p:sp>
    </p:spTree>
    <p:extLst>
      <p:ext uri="{BB962C8B-B14F-4D97-AF65-F5344CB8AC3E}">
        <p14:creationId xmlns:p14="http://schemas.microsoft.com/office/powerpoint/2010/main" val="8015402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2026-10-16T10:37:57.1300000Z</dcterms:created>
  <dcterms:modified xsi:type="dcterms:W3CDTF">2026-10-16T10:37:57.1300000Z</dcterms:modified>
</coreProperties>
</file>